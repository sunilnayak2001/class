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  <p:embeddedFont>
      <p:font typeface="Montserrat ExtraBold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4">
          <p15:clr>
            <a:srgbClr val="747775"/>
          </p15:clr>
        </p15:guide>
        <p15:guide id="2" orient="horz" pos="827">
          <p15:clr>
            <a:srgbClr val="747775"/>
          </p15:clr>
        </p15:guide>
        <p15:guide id="3" orient="horz" pos="323">
          <p15:clr>
            <a:srgbClr val="747775"/>
          </p15:clr>
        </p15:guide>
        <p15:guide id="4" pos="5436">
          <p15:clr>
            <a:srgbClr val="747775"/>
          </p15:clr>
        </p15:guide>
        <p15:guide id="5" orient="horz" pos="29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AF2FCB-E545-4DA5-9F04-56B0ACF830AA}">
  <a:tblStyle styleId="{87AF2FCB-E545-4DA5-9F04-56B0ACF83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"/>
        <p:guide pos="827" orient="horz"/>
        <p:guide pos="323" orient="horz"/>
        <p:guide pos="5436"/>
        <p:guide pos="290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28" Type="http://schemas.openxmlformats.org/officeDocument/2006/relationships/font" Target="fonts/MontserratExtraBold-boldItalic.fntdata"/><Relationship Id="rId27" Type="http://schemas.openxmlformats.org/officeDocument/2006/relationships/font" Target="fonts/Montserrat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10f2bb6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10f2bb6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ed5ab8d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aed5ab8d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7da5c7c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7da5c7c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8173ca99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8173ca99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8173ca99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8173ca99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8173ca99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8173ca99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8173ca99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8173ca99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8173ca99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8173ca99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8173ca990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8173ca990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8173ca990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8173ca990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079bd18c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7079bd18c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25" y="-25100"/>
            <a:ext cx="9144000" cy="51687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16434" r="63383" t="0"/>
          <a:stretch/>
        </p:blipFill>
        <p:spPr>
          <a:xfrm flipH="1" rot="10800000">
            <a:off x="7982075" y="-6351"/>
            <a:ext cx="1162050" cy="515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55933" l="6190" r="46699" t="9786"/>
          <a:stretch/>
        </p:blipFill>
        <p:spPr>
          <a:xfrm flipH="1" rot="5400000">
            <a:off x="-558800" y="539750"/>
            <a:ext cx="3098799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850" y="609038"/>
            <a:ext cx="1911925" cy="7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 amt="70000"/>
          </a:blip>
          <a:srcRect b="0" l="-104" r="5469" t="0"/>
          <a:stretch/>
        </p:blipFill>
        <p:spPr>
          <a:xfrm>
            <a:off x="4339950" y="15500"/>
            <a:ext cx="48041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93850" y="1663300"/>
            <a:ext cx="475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Introduction to</a:t>
            </a:r>
            <a:endParaRPr sz="4000">
              <a:solidFill>
                <a:srgbClr val="FF99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Computer</a:t>
            </a:r>
            <a:endParaRPr sz="40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Programming</a:t>
            </a:r>
            <a:endParaRPr sz="40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8" name="Google Shape;58;p13" title="7040861-0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0650" y="972524"/>
            <a:ext cx="3413425" cy="341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93850" y="1371150"/>
            <a:ext cx="4754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Types of Apps </a:t>
            </a:r>
            <a:endParaRPr sz="36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(Web, Mobile, Desktop)</a:t>
            </a:r>
            <a:endParaRPr sz="36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5" name="Google Shape;65;p14" title="Cross-platform software-pan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1575" y="512400"/>
            <a:ext cx="3964525" cy="39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Differences between web apps, mobile apps, desktop apps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2" name="Google Shape;72;p15"/>
          <p:cNvGraphicFramePr/>
          <p:nvPr/>
        </p:nvGraphicFramePr>
        <p:xfrm>
          <a:off x="601600" y="16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{87AF2FCB-E545-4DA5-9F04-56B0ACF830AA}</a:tableStyleId>
              </a:tblPr>
              <a:tblGrid>
                <a:gridCol w="1886600"/>
                <a:gridCol w="1886600"/>
                <a:gridCol w="1886600"/>
                <a:gridCol w="1886600"/>
              </a:tblGrid>
              <a:tr h="42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0E6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</a:t>
                      </a:r>
                      <a:endParaRPr b="1">
                        <a:solidFill>
                          <a:srgbClr val="380E67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0E6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Web App</a:t>
                      </a:r>
                      <a:endParaRPr b="1">
                        <a:solidFill>
                          <a:srgbClr val="380E67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0E6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Mobile App</a:t>
                      </a:r>
                      <a:endParaRPr b="1">
                        <a:solidFill>
                          <a:srgbClr val="380E67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0E6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Desktop App</a:t>
                      </a:r>
                      <a:endParaRPr b="1">
                        <a:solidFill>
                          <a:srgbClr val="380E67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</a:tr>
              <a:tr h="6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0E6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Runs On</a:t>
                      </a:r>
                      <a:endParaRPr b="1">
                        <a:solidFill>
                          <a:srgbClr val="380E67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Web Browsers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SmartPhones/ Tablets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PC or Laptop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0E6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Installation</a:t>
                      </a:r>
                      <a:endParaRPr b="1">
                        <a:solidFill>
                          <a:srgbClr val="380E67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Not Required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Installed via app stores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Installed via software centers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380E67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Examples</a:t>
                      </a:r>
                      <a:endParaRPr b="1">
                        <a:solidFill>
                          <a:srgbClr val="380E67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Gmail , Google Docs, Amazon.in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Amazon Mobile App 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0E67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Microsoft Word , Photoshop</a:t>
                      </a:r>
                      <a:endParaRPr>
                        <a:solidFill>
                          <a:srgbClr val="380E67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80E6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Front-end Tech Stack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6" title="Screenshot 2025-05-06 at 7.51.5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450" y="1456100"/>
            <a:ext cx="7197900" cy="2871600"/>
          </a:xfrm>
          <a:prstGeom prst="roundRect">
            <a:avLst>
              <a:gd fmla="val 728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Backend Tech Stack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17" title="Screenshot 2025-05-06 at 7.52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450" y="1456100"/>
            <a:ext cx="7132500" cy="2922900"/>
          </a:xfrm>
          <a:prstGeom prst="roundRect">
            <a:avLst>
              <a:gd fmla="val 85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Backend Tech Stack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18" title="Screenshot 2025-05-06 at 7.52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425" y="1456075"/>
            <a:ext cx="7132500" cy="2922900"/>
          </a:xfrm>
          <a:prstGeom prst="roundRect">
            <a:avLst>
              <a:gd fmla="val 856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Real World Example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Lets play a game, what is </a:t>
            </a: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amazon.in?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1" name="Google Shape;101;p19" title="107302170.jpg"/>
          <p:cNvPicPr preferRelativeResize="0"/>
          <p:nvPr/>
        </p:nvPicPr>
        <p:blipFill rotWithShape="1">
          <a:blip r:embed="rId4">
            <a:alphaModFix/>
          </a:blip>
          <a:srcRect b="21136" l="0" r="0" t="11676"/>
          <a:stretch/>
        </p:blipFill>
        <p:spPr>
          <a:xfrm>
            <a:off x="613475" y="2668075"/>
            <a:ext cx="3323100" cy="1255800"/>
          </a:xfrm>
          <a:prstGeom prst="roundRect">
            <a:avLst>
              <a:gd fmla="val 102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Real World Example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Yes, you are correct </a:t>
            </a: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amazon.in</a:t>
            </a: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is a </a:t>
            </a: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web application</a:t>
            </a: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1" sz="23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00" y="2473275"/>
            <a:ext cx="4902600" cy="2234100"/>
          </a:xfrm>
          <a:prstGeom prst="roundRect">
            <a:avLst>
              <a:gd fmla="val 5559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Real World Example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Okay , let's ask an another question !!!</a:t>
            </a:r>
            <a:endParaRPr b="1" sz="23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What is </a:t>
            </a: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MS Paint</a:t>
            </a: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1" sz="23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p21" title="images (7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475" y="2780650"/>
            <a:ext cx="1414200" cy="1414200"/>
          </a:xfrm>
          <a:prstGeom prst="roundRect">
            <a:avLst>
              <a:gd fmla="val 748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488900" y="686600"/>
            <a:ext cx="6950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Real World Example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488900" y="1537025"/>
            <a:ext cx="5998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Yes, you are correct </a:t>
            </a: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MS Paint</a:t>
            </a: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 is a </a:t>
            </a: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desktop application. 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22" title="cyber_topic_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300" y="2626975"/>
            <a:ext cx="3714900" cy="2080200"/>
          </a:xfrm>
          <a:prstGeom prst="roundRect">
            <a:avLst>
              <a:gd fmla="val 892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7200" y="283800"/>
            <a:ext cx="1284576" cy="47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488900" y="2151775"/>
            <a:ext cx="4062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Let's discuss more on </a:t>
            </a:r>
            <a:r>
              <a:rPr b="1" lang="en" sz="2300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real world examples !</a:t>
            </a:r>
            <a:endParaRPr b="1" sz="2300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23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3" title="Cross-platform software-pan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1575" y="512400"/>
            <a:ext cx="3964525" cy="396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60C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b="0" l="624" r="52794" t="0"/>
          <a:stretch/>
        </p:blipFill>
        <p:spPr>
          <a:xfrm rot="5400000">
            <a:off x="4825150" y="522638"/>
            <a:ext cx="3162301" cy="60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>
            <p:ph idx="4294967295" type="ctrTitle"/>
          </p:nvPr>
        </p:nvSpPr>
        <p:spPr>
          <a:xfrm>
            <a:off x="708600" y="1928100"/>
            <a:ext cx="77268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400">
                <a:solidFill>
                  <a:srgbClr val="F1C23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 YOU</a:t>
            </a:r>
            <a:endParaRPr sz="6400">
              <a:solidFill>
                <a:srgbClr val="F1C23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0" name="Google Shape;140;p24"/>
          <p:cNvSpPr/>
          <p:nvPr/>
        </p:nvSpPr>
        <p:spPr>
          <a:xfrm rot="-5400000">
            <a:off x="975397" y="2414960"/>
            <a:ext cx="450300" cy="3894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4"/>
          <p:cNvSpPr/>
          <p:nvPr/>
        </p:nvSpPr>
        <p:spPr>
          <a:xfrm flipH="1" rot="5400000">
            <a:off x="7777447" y="2339135"/>
            <a:ext cx="450300" cy="3894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6037" y="1039363"/>
            <a:ext cx="1911925" cy="7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