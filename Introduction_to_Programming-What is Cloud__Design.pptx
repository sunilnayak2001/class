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Montserrat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24">
          <p15:clr>
            <a:srgbClr val="747775"/>
          </p15:clr>
        </p15:guide>
        <p15:guide id="2" orient="horz" pos="827">
          <p15:clr>
            <a:srgbClr val="747775"/>
          </p15:clr>
        </p15:guide>
        <p15:guide id="3" orient="horz" pos="323">
          <p15:clr>
            <a:srgbClr val="747775"/>
          </p15:clr>
        </p15:guide>
        <p15:guide id="4" pos="5436">
          <p15:clr>
            <a:srgbClr val="747775"/>
          </p15:clr>
        </p15:guide>
        <p15:guide id="5" orient="horz" pos="290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"/>
        <p:guide pos="827" orient="horz"/>
        <p:guide pos="323" orient="horz"/>
        <p:guide pos="5436"/>
        <p:guide pos="290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MontserratExtraBold-bold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ontserrat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a10f2bb6b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a10f2bb6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817d0ae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817d0ae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817d0aea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817d0aea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817d0aea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817d0aea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817d0aea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817d0aea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817d0aea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817d0aea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817d0aea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817d0aea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817d0aea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817d0aea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079bd18c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27079bd18c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25" y="-25100"/>
            <a:ext cx="9144000" cy="5168700"/>
          </a:xfrm>
          <a:prstGeom prst="rect">
            <a:avLst/>
          </a:prstGeom>
          <a:solidFill>
            <a:srgbClr val="360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16434" r="63383" t="0"/>
          <a:stretch/>
        </p:blipFill>
        <p:spPr>
          <a:xfrm flipH="1" rot="10800000">
            <a:off x="7982075" y="-6351"/>
            <a:ext cx="1162050" cy="515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55933" l="6190" r="46699" t="9786"/>
          <a:stretch/>
        </p:blipFill>
        <p:spPr>
          <a:xfrm flipH="1" rot="5400000">
            <a:off x="-558800" y="539750"/>
            <a:ext cx="3098799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850" y="609038"/>
            <a:ext cx="1911925" cy="7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 amt="70000"/>
          </a:blip>
          <a:srcRect b="0" l="-104" r="5469" t="0"/>
          <a:stretch/>
        </p:blipFill>
        <p:spPr>
          <a:xfrm>
            <a:off x="4339950" y="15500"/>
            <a:ext cx="48041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93850" y="1663300"/>
            <a:ext cx="4754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Introduction to</a:t>
            </a:r>
            <a:endParaRPr sz="4000">
              <a:solidFill>
                <a:srgbClr val="FF99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1C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Computer</a:t>
            </a:r>
            <a:endParaRPr sz="4000">
              <a:solidFill>
                <a:srgbClr val="F1C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1C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Programming</a:t>
            </a:r>
            <a:endParaRPr sz="4000">
              <a:solidFill>
                <a:srgbClr val="F1C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58" name="Google Shape;58;p13" title="7040861-0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0650" y="972524"/>
            <a:ext cx="3413425" cy="341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93850" y="2202300"/>
            <a:ext cx="475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What is</a:t>
            </a:r>
            <a:r>
              <a:rPr lang="en" sz="3600">
                <a:solidFill>
                  <a:srgbClr val="F1C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Cloud </a:t>
            </a:r>
            <a:r>
              <a:rPr lang="en" sz="3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?</a:t>
            </a:r>
            <a:endParaRPr sz="36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5" name="Google Shape;65;p14" title="Development-pana.png"/>
          <p:cNvPicPr preferRelativeResize="0"/>
          <p:nvPr/>
        </p:nvPicPr>
        <p:blipFill rotWithShape="1">
          <a:blip r:embed="rId4">
            <a:alphaModFix/>
          </a:blip>
          <a:srcRect b="17010" l="22419" r="23675" t="22235"/>
          <a:stretch/>
        </p:blipFill>
        <p:spPr>
          <a:xfrm>
            <a:off x="5381200" y="1313528"/>
            <a:ext cx="2996325" cy="337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Concept of cloud computing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88900" y="1537025"/>
            <a:ext cx="7761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Cloud computing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is the delivery of computing services—like servers, storage, databases, networking, software, and more—over the</a:t>
            </a: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internet</a:t>
            </a:r>
            <a:r>
              <a:rPr b="1"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</a:t>
            </a: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"the cloud")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rather than using your local computer or a private data center.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Key Concepts</a:t>
            </a:r>
            <a:endParaRPr b="1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AutoNum type="alphaLcParenR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 can access resources whenever needed without owning hardware.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AutoNum type="alphaLcParenR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 can easily scale up or down based on your demand.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400"/>
              <a:buFont typeface="Montserrat Medium"/>
              <a:buAutoNum type="alphaLcParenR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 pay only for what you use (like a utility bill).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616825" y="2587350"/>
            <a:ext cx="2337900" cy="92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0E6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a) On-Demand Access</a:t>
            </a:r>
            <a:endParaRPr>
              <a:solidFill>
                <a:srgbClr val="380E6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293575" y="2587350"/>
            <a:ext cx="2337900" cy="92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0E6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b) Scalability</a:t>
            </a:r>
            <a:endParaRPr>
              <a:solidFill>
                <a:srgbClr val="380E6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970325" y="2587350"/>
            <a:ext cx="2337900" cy="92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0E6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c) Pay as-you-go</a:t>
            </a:r>
            <a:endParaRPr>
              <a:solidFill>
                <a:srgbClr val="380E6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Why companies use the cloud ?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488900" y="1537025"/>
            <a:ext cx="7761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Reason 1: Cost Savings</a:t>
            </a:r>
            <a:endParaRPr b="1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upfront hardware costs – 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You rent infrastructure instead of buying servers.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Pay-as-you-go – 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Only pay for the resources you actually use.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Lower maintenance costs – 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Cloud providers handle updates and hardware.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Reason 2: Scalability &amp; Flexibility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Instantly </a:t>
            </a: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scale up or down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based on demand.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Useful for handling traffic spikes or business growth without downtime.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Why companies use the cloud ?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488900" y="1537025"/>
            <a:ext cx="502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Reason 3: Faster Time to Market</a:t>
            </a:r>
            <a:endParaRPr b="1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Quickly deploy applications and services without lengthy setup times.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Pre-built tools and platforms (like </a:t>
            </a: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AWS Lambda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or </a:t>
            </a: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Google Firebase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 speed up development.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4500" y="1477374"/>
            <a:ext cx="3320700" cy="2054700"/>
          </a:xfrm>
          <a:prstGeom prst="roundRect">
            <a:avLst>
              <a:gd fmla="val 797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What are cloud service models 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488900" y="1537025"/>
            <a:ext cx="502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SaaS – Software as a Service</a:t>
            </a:r>
            <a:endParaRPr b="1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Delivers software applications over the internet, fully managed by the provider.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Examples:</a:t>
            </a:r>
            <a:endParaRPr>
              <a:solidFill>
                <a:srgbClr val="F1C23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Google Workspace (Docs, Sheets, Gmail)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Salesforce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Microsoft 365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4500" y="1483209"/>
            <a:ext cx="3320700" cy="1867800"/>
          </a:xfrm>
          <a:prstGeom prst="roundRect">
            <a:avLst>
              <a:gd fmla="val 1041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What are cloud service models 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488900" y="1537025"/>
            <a:ext cx="502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PaaS – Platform as a Service</a:t>
            </a:r>
            <a:endParaRPr b="1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Provides a platform for developers to build, run, and manage apps without managing the underlying infrastructure.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Examples:</a:t>
            </a:r>
            <a:endParaRPr>
              <a:solidFill>
                <a:srgbClr val="F1C23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Google App Engine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Heroku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Microsoft Azure App Service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4500" y="1479525"/>
            <a:ext cx="3320700" cy="1949400"/>
          </a:xfrm>
          <a:prstGeom prst="roundRect">
            <a:avLst>
              <a:gd fmla="val 1050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What are cloud service models 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488900" y="1537025"/>
            <a:ext cx="5025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IaaS – Infrastructure as a Service</a:t>
            </a:r>
            <a:endParaRPr b="1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Provides basic computing infrastructure – servers, storage, networking – on demand.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Examples:</a:t>
            </a:r>
            <a:endParaRPr>
              <a:solidFill>
                <a:srgbClr val="F1C23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Amazon EC2 (AWS)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Google Compute Engine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Microsoft Azure Virtual Machines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14" name="Google Shape;114;p20"/>
          <p:cNvGrpSpPr/>
          <p:nvPr/>
        </p:nvGrpSpPr>
        <p:grpSpPr>
          <a:xfrm>
            <a:off x="5524650" y="1479463"/>
            <a:ext cx="3320700" cy="2010963"/>
            <a:chOff x="5524650" y="1479463"/>
            <a:chExt cx="3320700" cy="2010963"/>
          </a:xfrm>
        </p:grpSpPr>
        <p:sp>
          <p:nvSpPr>
            <p:cNvPr id="115" name="Google Shape;115;p20"/>
            <p:cNvSpPr/>
            <p:nvPr/>
          </p:nvSpPr>
          <p:spPr>
            <a:xfrm>
              <a:off x="5524650" y="1479525"/>
              <a:ext cx="3320700" cy="2010900"/>
            </a:xfrm>
            <a:prstGeom prst="roundRect">
              <a:avLst>
                <a:gd fmla="val 866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6" name="Google Shape;116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49138" y="1479463"/>
              <a:ext cx="3051425" cy="19495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Popular Cloud Providers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488900" y="1537025"/>
            <a:ext cx="7658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Amazon Web Services (AWS)</a:t>
            </a:r>
            <a:endParaRPr b="1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AutoNum type="alphaLcPeriod"/>
            </a:pP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Market leader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 cloud computing.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AutoNum type="alphaLcPeriod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Offers 200+ services including compute (EC2), storage (S3), and AI tools.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AutoNum type="alphaLcPeriod"/>
            </a:pP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Strengths: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Scalability, global presence, massive ecosystem.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Char char="●"/>
            </a:pPr>
            <a:r>
              <a:rPr b="1" lang="en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Microsoft Azure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AutoNum type="alphaLcPeriod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Strong in hybrid cloud and enterprise integrations (especially with Microsoft 365 and Windows Server).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AutoNum type="alphaLcPeriod"/>
            </a:pP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Offers services like Azure Virtual Machines, App Services, and Cosmos DB.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Montserrat Medium"/>
              <a:buAutoNum type="alphaLcPeriod"/>
            </a:pPr>
            <a:r>
              <a:rPr lang="en">
                <a:solidFill>
                  <a:srgbClr val="F1C23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Strengths: </a:t>
            </a:r>
            <a:r>
              <a:rPr lang="en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Enterprise-friendly, good for .NET and Windows developers.</a:t>
            </a:r>
            <a:endParaRPr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60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0" l="624" r="52794" t="0"/>
          <a:stretch/>
        </p:blipFill>
        <p:spPr>
          <a:xfrm rot="5400000">
            <a:off x="4825150" y="522638"/>
            <a:ext cx="3162301" cy="60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>
            <p:ph idx="4294967295" type="ctrTitle"/>
          </p:nvPr>
        </p:nvSpPr>
        <p:spPr>
          <a:xfrm>
            <a:off x="708600" y="1928100"/>
            <a:ext cx="77268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400">
                <a:solidFill>
                  <a:srgbClr val="F1C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THANK YOU</a:t>
            </a:r>
            <a:endParaRPr sz="6400">
              <a:solidFill>
                <a:srgbClr val="F1C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1" name="Google Shape;131;p22"/>
          <p:cNvSpPr/>
          <p:nvPr/>
        </p:nvSpPr>
        <p:spPr>
          <a:xfrm rot="-5400000">
            <a:off x="975397" y="2414960"/>
            <a:ext cx="450300" cy="3894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" name="Google Shape;132;p22"/>
          <p:cNvSpPr/>
          <p:nvPr/>
        </p:nvSpPr>
        <p:spPr>
          <a:xfrm flipH="1" rot="5400000">
            <a:off x="7777447" y="2339135"/>
            <a:ext cx="450300" cy="3894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6037" y="1039363"/>
            <a:ext cx="1911925" cy="7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