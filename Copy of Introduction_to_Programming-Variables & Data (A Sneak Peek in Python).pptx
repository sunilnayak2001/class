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Poppins"/>
      <p:regular r:id="rId19"/>
      <p:bold r:id="rId20"/>
      <p:italic r:id="rId21"/>
      <p:boldItalic r:id="rId22"/>
    </p:embeddedFont>
    <p:embeddedFont>
      <p:font typeface="Montserrat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4">
          <p15:clr>
            <a:srgbClr val="747775"/>
          </p15:clr>
        </p15:guide>
        <p15:guide id="2" orient="horz" pos="827">
          <p15:clr>
            <a:srgbClr val="747775"/>
          </p15:clr>
        </p15:guide>
        <p15:guide id="3" orient="horz" pos="323">
          <p15:clr>
            <a:srgbClr val="747775"/>
          </p15:clr>
        </p15:guide>
        <p15:guide id="4" pos="5436">
          <p15:clr>
            <a:srgbClr val="747775"/>
          </p15:clr>
        </p15:guide>
        <p15:guide id="5" orient="horz" pos="290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4420DB-D952-4913-9F48-CD48D32EAAD1}">
  <a:tblStyle styleId="{744420DB-D952-4913-9F48-CD48D32EAAD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"/>
        <p:guide pos="827" orient="horz"/>
        <p:guide pos="323" orient="horz"/>
        <p:guide pos="5436"/>
        <p:guide pos="290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5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21" Type="http://schemas.openxmlformats.org/officeDocument/2006/relationships/font" Target="fonts/Poppins-italic.fntdata"/><Relationship Id="rId13" Type="http://schemas.openxmlformats.org/officeDocument/2006/relationships/slide" Target="slides/slide7.xml"/><Relationship Id="rId24" Type="http://schemas.openxmlformats.org/officeDocument/2006/relationships/font" Target="fonts/MontserratExtraBold-boldItalic.fntdata"/><Relationship Id="rId12" Type="http://schemas.openxmlformats.org/officeDocument/2006/relationships/slide" Target="slides/slide6.xml"/><Relationship Id="rId23" Type="http://schemas.openxmlformats.org/officeDocument/2006/relationships/font" Target="fonts/Montserrat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a10f2bb6b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a10f2bb6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aed5ab8d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aed5ab8d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9871aee8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9871aee8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9871aee8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9871aee8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9871aee8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9871aee8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9871aee8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9871aee8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ac6a952f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5ac6a952f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25" y="-25100"/>
            <a:ext cx="9144000" cy="5168700"/>
          </a:xfrm>
          <a:prstGeom prst="rect">
            <a:avLst/>
          </a:prstGeom>
          <a:solidFill>
            <a:srgbClr val="360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16434" r="63383" t="0"/>
          <a:stretch/>
        </p:blipFill>
        <p:spPr>
          <a:xfrm flipH="1" rot="10800000">
            <a:off x="7982075" y="-6351"/>
            <a:ext cx="1162050" cy="515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55933" l="6190" r="46699" t="9786"/>
          <a:stretch/>
        </p:blipFill>
        <p:spPr>
          <a:xfrm flipH="1" rot="5400000">
            <a:off x="-558800" y="539750"/>
            <a:ext cx="3098799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6025" y="609038"/>
            <a:ext cx="1911925" cy="7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 amt="70000"/>
          </a:blip>
          <a:srcRect b="0" l="-104" r="5469" t="0"/>
          <a:stretch/>
        </p:blipFill>
        <p:spPr>
          <a:xfrm>
            <a:off x="4339950" y="15500"/>
            <a:ext cx="48041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-50" y="1458375"/>
            <a:ext cx="9144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9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Introduction to</a:t>
            </a:r>
            <a:endParaRPr sz="6000">
              <a:solidFill>
                <a:srgbClr val="FF99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99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Computer</a:t>
            </a:r>
            <a:r>
              <a:rPr lang="en" sz="6000">
                <a:solidFill>
                  <a:srgbClr val="FF99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sz="6000">
              <a:solidFill>
                <a:srgbClr val="FF99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Programming</a:t>
            </a:r>
            <a:endParaRPr sz="3900">
              <a:solidFill>
                <a:schemeClr val="l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193300" y="2307900"/>
            <a:ext cx="581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Variables &amp; Data </a:t>
            </a:r>
            <a:r>
              <a:rPr b="1" lang="en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(A Sneak Peek in Python)</a:t>
            </a:r>
            <a:endParaRPr b="1"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43350" y="906125"/>
            <a:ext cx="737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EEEE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an wearing headphones is sitting in front of a computer (Provided by Tenor)"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4625" y="1547025"/>
            <a:ext cx="2736275" cy="2049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14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67" name="Google Shape;67;p14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427400" y="246125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Variables as “labeled boxes” for data</a:t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variable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is like a </a:t>
            </a:r>
            <a:r>
              <a:rPr b="1" lang="en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labeled box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where you can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store data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The box has: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label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→ the variable name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value inside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→ the data stored (like a number, text, list, etc.)</a:t>
            </a:r>
            <a:b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6" name="Google Shape;76;p15"/>
          <p:cNvGraphicFramePr/>
          <p:nvPr/>
        </p:nvGraphicFramePr>
        <p:xfrm>
          <a:off x="3150150" y="203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{744420DB-D952-4913-9F48-CD48D32EAAD1}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7" name="Google Shape;77;p15" title="Screenshot 2025-05-17 at 2.08.5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075" y="2811399"/>
            <a:ext cx="7827599" cy="1492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15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79" name="Google Shape;79;p15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/>
        </p:nvSpPr>
        <p:spPr>
          <a:xfrm>
            <a:off x="427400" y="246125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Basic data types (int, float, string)</a:t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is a whole number — no decimal point.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 = 25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year = 2025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temperature = -5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type(age)  # Output: &lt;class 'int'&gt;</a:t>
            </a:r>
            <a:endParaRPr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float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is a number with a decimal point.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height = 5.9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price = 99.99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temperature = -3.14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type(height)  # Output: &lt;class 'float'&gt;</a:t>
            </a:r>
            <a:endParaRPr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" name="Google Shape;88;p16"/>
          <p:cNvGraphicFramePr/>
          <p:nvPr/>
        </p:nvGraphicFramePr>
        <p:xfrm>
          <a:off x="3150150" y="203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{744420DB-D952-4913-9F48-CD48D32EAAD1}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89" name="Google Shape;89;p16"/>
          <p:cNvGrpSpPr/>
          <p:nvPr/>
        </p:nvGrpSpPr>
        <p:grpSpPr>
          <a:xfrm flipH="1">
            <a:off x="514342" y="4615794"/>
            <a:ext cx="1160803" cy="378074"/>
            <a:chOff x="7406117" y="275019"/>
            <a:chExt cx="1160803" cy="378074"/>
          </a:xfrm>
        </p:grpSpPr>
        <p:sp>
          <p:nvSpPr>
            <p:cNvPr id="90" name="Google Shape;90;p16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427400" y="246125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Basic data types (int, float, string)</a:t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string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is a sequence of characters — letters, numbers, symbols — enclosed in quotes.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name = "Alice"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greeting = 'Hello, world!'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zipcode = "12345"  # Still a string because it's in quotes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9" name="Google Shape;99;p17"/>
          <p:cNvGraphicFramePr/>
          <p:nvPr/>
        </p:nvGraphicFramePr>
        <p:xfrm>
          <a:off x="3150150" y="203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{744420DB-D952-4913-9F48-CD48D32EAAD1}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0" name="Google Shape;100;p17" title="Screenshot 2025-05-17 at 7.54.0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0762" y="2997878"/>
            <a:ext cx="6882476" cy="1617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7"/>
          <p:cNvGrpSpPr/>
          <p:nvPr/>
        </p:nvGrpSpPr>
        <p:grpSpPr>
          <a:xfrm flipH="1">
            <a:off x="177017" y="4615794"/>
            <a:ext cx="1160803" cy="378074"/>
            <a:chOff x="7406117" y="275019"/>
            <a:chExt cx="1160803" cy="378074"/>
          </a:xfrm>
        </p:grpSpPr>
        <p:sp>
          <p:nvSpPr>
            <p:cNvPr id="102" name="Google Shape;102;p17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/>
        </p:nvSpPr>
        <p:spPr>
          <a:xfrm>
            <a:off x="427400" y="246125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Assigning &amp; printing in Python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18"/>
          <p:cNvGraphicFramePr/>
          <p:nvPr/>
        </p:nvGraphicFramePr>
        <p:xfrm>
          <a:off x="3150150" y="203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{744420DB-D952-4913-9F48-CD48D32EAAD1}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2375" y="1095350"/>
            <a:ext cx="5581650" cy="3219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18"/>
          <p:cNvGrpSpPr/>
          <p:nvPr/>
        </p:nvGrpSpPr>
        <p:grpSpPr>
          <a:xfrm flipH="1">
            <a:off x="514342" y="4636319"/>
            <a:ext cx="1160803" cy="378074"/>
            <a:chOff x="7406117" y="275019"/>
            <a:chExt cx="1160803" cy="378074"/>
          </a:xfrm>
        </p:grpSpPr>
        <p:sp>
          <p:nvSpPr>
            <p:cNvPr id="114" name="Google Shape;114;p18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8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8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1096800" y="23079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Let’s do some </a:t>
            </a:r>
            <a:r>
              <a:rPr b="1" lang="en" sz="3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hands</a:t>
            </a:r>
            <a:r>
              <a:rPr b="1" lang="en" sz="3000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 on !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rgbClr val="FF99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3" name="Google Shape;123;p19"/>
          <p:cNvGraphicFramePr/>
          <p:nvPr/>
        </p:nvGraphicFramePr>
        <p:xfrm>
          <a:off x="3150150" y="203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{744420DB-D952-4913-9F48-CD48D32EAAD1}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124" name="Google Shape;124;p19"/>
          <p:cNvGrpSpPr/>
          <p:nvPr/>
        </p:nvGrpSpPr>
        <p:grpSpPr>
          <a:xfrm flipH="1">
            <a:off x="565692" y="4376694"/>
            <a:ext cx="1160803" cy="378074"/>
            <a:chOff x="7406117" y="275019"/>
            <a:chExt cx="1160803" cy="378074"/>
          </a:xfrm>
        </p:grpSpPr>
        <p:sp>
          <p:nvSpPr>
            <p:cNvPr id="125" name="Google Shape;125;p19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7946326" y="2750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60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3">
            <a:alphaModFix/>
          </a:blip>
          <a:srcRect b="0" l="624" r="52794" t="0"/>
          <a:stretch/>
        </p:blipFill>
        <p:spPr>
          <a:xfrm rot="5400000">
            <a:off x="4825150" y="522638"/>
            <a:ext cx="3162301" cy="60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>
            <p:ph idx="4294967295" type="ctrTitle"/>
          </p:nvPr>
        </p:nvSpPr>
        <p:spPr>
          <a:xfrm>
            <a:off x="708600" y="1928100"/>
            <a:ext cx="77268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8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b="1" i="0" sz="8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0"/>
          <p:cNvSpPr/>
          <p:nvPr/>
        </p:nvSpPr>
        <p:spPr>
          <a:xfrm rot="-5400000">
            <a:off x="975397" y="2452872"/>
            <a:ext cx="450300" cy="3894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 flipH="1" rot="5400000">
            <a:off x="7777447" y="2377047"/>
            <a:ext cx="450300" cy="389400"/>
          </a:xfrm>
          <a:prstGeom prst="triangle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20"/>
          <p:cNvGrpSpPr/>
          <p:nvPr/>
        </p:nvGrpSpPr>
        <p:grpSpPr>
          <a:xfrm flipH="1">
            <a:off x="305567" y="4611044"/>
            <a:ext cx="1160803" cy="149474"/>
            <a:chOff x="7406117" y="503619"/>
            <a:chExt cx="1160803" cy="149474"/>
          </a:xfrm>
        </p:grpSpPr>
        <p:sp>
          <p:nvSpPr>
            <p:cNvPr id="138" name="Google Shape;138;p20"/>
            <p:cNvSpPr/>
            <p:nvPr/>
          </p:nvSpPr>
          <p:spPr>
            <a:xfrm>
              <a:off x="7406117" y="508758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80D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0"/>
            <p:cNvSpPr/>
            <p:nvPr/>
          </p:nvSpPr>
          <p:spPr>
            <a:xfrm>
              <a:off x="8438909" y="519064"/>
              <a:ext cx="128011" cy="118870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0"/>
            <p:cNvSpPr/>
            <p:nvPr/>
          </p:nvSpPr>
          <p:spPr>
            <a:xfrm>
              <a:off x="7946326" y="503619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20"/>
          <p:cNvGrpSpPr/>
          <p:nvPr/>
        </p:nvGrpSpPr>
        <p:grpSpPr>
          <a:xfrm>
            <a:off x="7682392" y="669706"/>
            <a:ext cx="741576" cy="321909"/>
            <a:chOff x="7612992" y="1041181"/>
            <a:chExt cx="741576" cy="321909"/>
          </a:xfrm>
        </p:grpSpPr>
        <p:sp>
          <p:nvSpPr>
            <p:cNvPr id="142" name="Google Shape;142;p20"/>
            <p:cNvSpPr/>
            <p:nvPr/>
          </p:nvSpPr>
          <p:spPr>
            <a:xfrm>
              <a:off x="7612992" y="1103471"/>
              <a:ext cx="144335" cy="144335"/>
            </a:xfrm>
            <a:custGeom>
              <a:rect b="b" l="l" r="r" t="t"/>
              <a:pathLst>
                <a:path extrusionOk="0" h="5673" w="5673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8236209" y="1248802"/>
              <a:ext cx="118359" cy="114288"/>
            </a:xfrm>
            <a:custGeom>
              <a:rect b="b" l="l" r="r" t="t"/>
              <a:pathLst>
                <a:path extrusionOk="0" h="4492" w="4652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rgbClr val="008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0"/>
            <p:cNvSpPr/>
            <p:nvPr/>
          </p:nvSpPr>
          <p:spPr>
            <a:xfrm>
              <a:off x="7953176" y="1041181"/>
              <a:ext cx="144335" cy="144361"/>
            </a:xfrm>
            <a:custGeom>
              <a:rect b="b" l="l" r="r" t="t"/>
              <a:pathLst>
                <a:path extrusionOk="0" h="5674" w="5673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5" name="Google Shape;14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7325" y="991625"/>
            <a:ext cx="1284576" cy="47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