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4">
          <p15:clr>
            <a:srgbClr val="747775"/>
          </p15:clr>
        </p15:guide>
        <p15:guide id="2" orient="horz" pos="827">
          <p15:clr>
            <a:srgbClr val="747775"/>
          </p15:clr>
        </p15:guide>
        <p15:guide id="3" orient="horz" pos="323">
          <p15:clr>
            <a:srgbClr val="747775"/>
          </p15:clr>
        </p15:guide>
        <p15:guide id="4" pos="5436">
          <p15:clr>
            <a:srgbClr val="747775"/>
          </p15:clr>
        </p15:guide>
        <p15:guide id="5" orient="horz" pos="29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"/>
        <p:guide pos="827" orient="horz"/>
        <p:guide pos="323" orient="horz"/>
        <p:guide pos="5436"/>
        <p:guide pos="290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10f2bb6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a10f2bb6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ed5ab8d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ed5ab8d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7da5c7c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7da5c7c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815d5536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815d5536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815d5536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815d5536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815d5536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815d5536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7da5c7c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7da5c7c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7da5c7c7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7da5c7c7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079bd18c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7079bd18c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25" y="-25100"/>
            <a:ext cx="9144000" cy="5168700"/>
          </a:xfrm>
          <a:prstGeom prst="rect">
            <a:avLst/>
          </a:prstGeom>
          <a:solidFill>
            <a:srgbClr val="360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16434" r="63383" t="0"/>
          <a:stretch/>
        </p:blipFill>
        <p:spPr>
          <a:xfrm flipH="1" rot="10800000">
            <a:off x="7982075" y="-6351"/>
            <a:ext cx="1162050" cy="515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55933" l="6190" r="46699" t="9786"/>
          <a:stretch/>
        </p:blipFill>
        <p:spPr>
          <a:xfrm flipH="1" rot="5400000">
            <a:off x="-558800" y="539750"/>
            <a:ext cx="3098799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850" y="609038"/>
            <a:ext cx="1911925" cy="7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 amt="70000"/>
          </a:blip>
          <a:srcRect b="0" l="-104" r="5469" t="0"/>
          <a:stretch/>
        </p:blipFill>
        <p:spPr>
          <a:xfrm>
            <a:off x="4339950" y="15500"/>
            <a:ext cx="48041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93850" y="1663300"/>
            <a:ext cx="4754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 to</a:t>
            </a:r>
            <a:endParaRPr sz="4000">
              <a:solidFill>
                <a:srgbClr val="FF99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Computer</a:t>
            </a:r>
            <a:endParaRPr sz="40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Programming</a:t>
            </a:r>
            <a:endParaRPr sz="40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8" name="Google Shape;58;p13" title="7040861-0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0650" y="972524"/>
            <a:ext cx="3413425" cy="34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93850" y="1371150"/>
            <a:ext cx="4754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Overview of the </a:t>
            </a:r>
            <a:endParaRPr sz="36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IT Industry </a:t>
            </a:r>
            <a:endParaRPr sz="36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&amp; </a:t>
            </a:r>
            <a:endParaRPr sz="3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Ecosystem</a:t>
            </a:r>
            <a:endParaRPr sz="36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5" name="Google Shape;65;p14" title="Software integration-br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2800" y="819675"/>
            <a:ext cx="3964525" cy="39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How the IT sector is structured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Infrastructure &amp; Support</a:t>
            </a:r>
            <a:b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 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Network engineers, system admins, IT support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Software Development</a:t>
            </a:r>
            <a:b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Frontend/backend developers, mobile developers, software engineers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Cloud &amp; DevOps</a:t>
            </a:r>
            <a:b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 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Cloud engineers, DevOps specialists, site reliability engineers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3" name="Google Shape;73;p15" title="Software code testing-pa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9925" y="1214300"/>
            <a:ext cx="2652550" cy="26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How the IT sector is structured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Cybersecurity</a:t>
            </a:r>
            <a:b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Security analysts, ethical hackers, security engineers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Data &amp; AI</a:t>
            </a:r>
            <a:b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scientists, analysts, AI/ML engineer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User Experience (UX) &amp; Design</a:t>
            </a:r>
            <a:b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 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UX/UI designers, interaction designers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1" name="Google Shape;81;p16" title="Software code testing-pa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9925" y="1214300"/>
            <a:ext cx="2652550" cy="26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What are different types of IT Companies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150" y="1403825"/>
            <a:ext cx="6163800" cy="3467100"/>
          </a:xfrm>
          <a:prstGeom prst="roundRect">
            <a:avLst>
              <a:gd fmla="val 753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Common roles in IT 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Let’s Discuss 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One </a:t>
            </a:r>
            <a:endParaRPr b="1" sz="24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endParaRPr b="1" sz="24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One</a:t>
            </a:r>
            <a:endParaRPr b="1" sz="24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500" y="1537025"/>
            <a:ext cx="5241000" cy="3293100"/>
          </a:xfrm>
          <a:prstGeom prst="roundRect">
            <a:avLst>
              <a:gd fmla="val 551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488900" y="686600"/>
            <a:ext cx="814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Overview of Software Development Lifecycle (SDLC)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Planning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Define what the software should do.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 goals, timelines, and resources.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Requirement Analysis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Gather details about what users or clients needs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 the problem the software will solve.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Plan how the software will work and look.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Create diagrams, architecture, and interfaces.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4" name="Google Shape;104;p19" title="Cross-platform software-b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7613" y="1018313"/>
            <a:ext cx="2512625" cy="25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488900" y="686600"/>
            <a:ext cx="814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Overview of Software Development Lifecycle (SDLC)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Development (Coding)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Programmers write the actual code based on the design.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is where the product is built.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 for bugs and errors.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Make sure the software works as expected.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2" name="Google Shape;112;p20" title="Cross-platform software-b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7613" y="1018313"/>
            <a:ext cx="2512625" cy="25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488900" y="686600"/>
            <a:ext cx="814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Overview of Software Development Lifecycle (SDLC)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Deployment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Release the software to users or clients.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Could be a website launch, app release, etc.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Maintenance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Fix issues, update features, and improve performance over time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0" name="Google Shape;120;p21" title="Cross-platform software-b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7613" y="1018313"/>
            <a:ext cx="2512625" cy="25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60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0" l="624" r="52794" t="0"/>
          <a:stretch/>
        </p:blipFill>
        <p:spPr>
          <a:xfrm rot="5400000">
            <a:off x="4825150" y="522638"/>
            <a:ext cx="3162301" cy="60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idx="4294967295" type="ctrTitle"/>
          </p:nvPr>
        </p:nvSpPr>
        <p:spPr>
          <a:xfrm>
            <a:off x="708600" y="1928100"/>
            <a:ext cx="77268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4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</a:t>
            </a:r>
            <a:endParaRPr sz="64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8" name="Google Shape;128;p22"/>
          <p:cNvSpPr/>
          <p:nvPr/>
        </p:nvSpPr>
        <p:spPr>
          <a:xfrm rot="-5400000">
            <a:off x="975397" y="2414960"/>
            <a:ext cx="450300" cy="3894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22"/>
          <p:cNvSpPr/>
          <p:nvPr/>
        </p:nvSpPr>
        <p:spPr>
          <a:xfrm flipH="1" rot="5400000">
            <a:off x="7777447" y="2339135"/>
            <a:ext cx="450300" cy="3894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6037" y="1039363"/>
            <a:ext cx="1911925" cy="7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