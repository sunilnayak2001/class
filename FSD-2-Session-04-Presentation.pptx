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y="5143500" cx="9144000"/>
  <p:notesSz cx="6858000" cy="9144000"/>
  <p:embeddedFontLst>
    <p:embeddedFont>
      <p:font typeface="Poppins"/>
      <p:regular r:id="rId58"/>
      <p:bold r:id="rId59"/>
      <p:italic r:id="rId60"/>
      <p:boldItalic r:id="rId61"/>
    </p:embeddedFont>
    <p:embeddedFont>
      <p:font typeface="Work Sans Medium"/>
      <p:regular r:id="rId62"/>
      <p:bold r:id="rId63"/>
      <p:italic r:id="rId64"/>
      <p:boldItalic r:id="rId65"/>
    </p:embeddedFont>
    <p:embeddedFont>
      <p:font typeface="Work Sans"/>
      <p:regular r:id="rId66"/>
      <p:bold r:id="rId67"/>
      <p:italic r:id="rId68"/>
      <p:boldItalic r:id="rId69"/>
    </p:embeddedFont>
    <p:embeddedFont>
      <p:font typeface="Syncopate"/>
      <p:regular r:id="rId70"/>
      <p:bold r:id="rId71"/>
    </p:embeddedFont>
    <p:embeddedFont>
      <p:font typeface="Archivo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Archivo-bold.fntdata"/><Relationship Id="rId72" Type="http://schemas.openxmlformats.org/officeDocument/2006/relationships/font" Target="fonts/Archivo-regular.fntdata"/><Relationship Id="rId31" Type="http://schemas.openxmlformats.org/officeDocument/2006/relationships/slide" Target="slides/slide24.xml"/><Relationship Id="rId75" Type="http://schemas.openxmlformats.org/officeDocument/2006/relationships/font" Target="fonts/Archivo-boldItalic.fntdata"/><Relationship Id="rId30" Type="http://schemas.openxmlformats.org/officeDocument/2006/relationships/slide" Target="slides/slide23.xml"/><Relationship Id="rId74" Type="http://schemas.openxmlformats.org/officeDocument/2006/relationships/font" Target="fonts/Archivo-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Syncopate-bold.fntdata"/><Relationship Id="rId70" Type="http://schemas.openxmlformats.org/officeDocument/2006/relationships/font" Target="fonts/Syncopate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WorkSansMedium-regular.fntdata"/><Relationship Id="rId61" Type="http://schemas.openxmlformats.org/officeDocument/2006/relationships/font" Target="fonts/Poppins-boldItalic.fntdata"/><Relationship Id="rId20" Type="http://schemas.openxmlformats.org/officeDocument/2006/relationships/slide" Target="slides/slide13.xml"/><Relationship Id="rId64" Type="http://schemas.openxmlformats.org/officeDocument/2006/relationships/font" Target="fonts/WorkSansMedium-italic.fntdata"/><Relationship Id="rId63" Type="http://schemas.openxmlformats.org/officeDocument/2006/relationships/font" Target="fonts/WorkSansMedium-bold.fntdata"/><Relationship Id="rId22" Type="http://schemas.openxmlformats.org/officeDocument/2006/relationships/slide" Target="slides/slide15.xml"/><Relationship Id="rId66" Type="http://schemas.openxmlformats.org/officeDocument/2006/relationships/font" Target="fonts/WorkSans-regular.fntdata"/><Relationship Id="rId21" Type="http://schemas.openxmlformats.org/officeDocument/2006/relationships/slide" Target="slides/slide14.xml"/><Relationship Id="rId65" Type="http://schemas.openxmlformats.org/officeDocument/2006/relationships/font" Target="fonts/WorkSansMedium-boldItalic.fntdata"/><Relationship Id="rId24" Type="http://schemas.openxmlformats.org/officeDocument/2006/relationships/slide" Target="slides/slide17.xml"/><Relationship Id="rId68" Type="http://schemas.openxmlformats.org/officeDocument/2006/relationships/font" Target="fonts/WorkSans-italic.fntdata"/><Relationship Id="rId23" Type="http://schemas.openxmlformats.org/officeDocument/2006/relationships/slide" Target="slides/slide16.xml"/><Relationship Id="rId67" Type="http://schemas.openxmlformats.org/officeDocument/2006/relationships/font" Target="fonts/WorkSans-bold.fntdata"/><Relationship Id="rId60" Type="http://schemas.openxmlformats.org/officeDocument/2006/relationships/font" Target="fonts/Poppins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WorkSans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Poppins-bold.fntdata"/><Relationship Id="rId14" Type="http://schemas.openxmlformats.org/officeDocument/2006/relationships/slide" Target="slides/slide7.xml"/><Relationship Id="rId58" Type="http://schemas.openxmlformats.org/officeDocument/2006/relationships/font" Target="fonts/Poppins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8e988eaf3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c8e988eaf3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8e988eaf3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c8e988eaf3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8e988eaf3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c8e988eaf3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8e988eaf3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c8e988eaf3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8e988eaf3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c8e988eaf3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8e988eaf3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c8e988eaf3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8e988eaf3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c8e988eaf3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8e988eaf3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c8e988eaf3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f4eaa144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bf4eaa144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8e988eaf3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c8e988eaf3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8e988eaf3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c8e988eaf3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8e988eaf3_0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c8e988eaf3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8e988eaf3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c8e988eaf3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95cffb94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c95cffb94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8e988eaf3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c8e988eaf3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f4eaa14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bf4eaa14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c8e988eaf3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c8e988eaf3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8e988eaf3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c8e988eaf3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8e988eaf3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c8e988eaf3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c95cffb94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c95cffb94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c8e988eaf3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c8e988eaf3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f4eaa144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bf4eaa144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8e988eaf3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c8e988eaf3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8e988eaf3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c8e988eaf3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8e988eaf3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c8e988eaf3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95cffb94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c95cffb94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8e988eaf3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c8e988eaf3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f4eaa144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bf4eaa144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8e988eaf3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g3c8e988eaf3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8e988eaf3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c8e988eaf3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c8e988eaf3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c8e988eaf3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c8e988eaf3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c8e988eaf3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c95cffb94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g3c95cffb94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c95cffb94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c95cffb94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c8e988eaf3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c8e988eaf3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f4eaa144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bf4eaa144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8e988eaf3_0_1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c8e988eaf3_0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8e988eaf3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c8e988eaf3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c8e988eaf3_0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g3c8e988eaf3_0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c8e988eaf3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c8e988eaf3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c8e988eaf3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c8e988eaf3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c8e988eaf3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c8e988eaf3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f4eaa144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3bf4eaa144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c8e988eaf3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g3c8e988eaf3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c8e988eaf3_0_1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g3c8e988eaf3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c8e988eaf3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g3c8e988eaf3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caf9abf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caf9abf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caf9abf0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caf9abf0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cb0078476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cb0078476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8e988eaf3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c8e988eaf3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-286802" y="0"/>
            <a:ext cx="2959039" cy="2123017"/>
            <a:chOff x="-347226" y="-3"/>
            <a:chExt cx="3429974" cy="2460899"/>
          </a:xfrm>
        </p:grpSpPr>
        <p:sp>
          <p:nvSpPr>
            <p:cNvPr id="57" name="Google Shape;57;p14"/>
            <p:cNvSpPr/>
            <p:nvPr/>
          </p:nvSpPr>
          <p:spPr>
            <a:xfrm>
              <a:off x="-1582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rgbClr val="06104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-15826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-347226" y="674082"/>
              <a:ext cx="3153725" cy="940604"/>
              <a:chOff x="-104552" y="1952776"/>
              <a:chExt cx="5543549" cy="1653374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4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" name="Google Shape;65;p14"/>
          <p:cNvGrpSpPr/>
          <p:nvPr/>
        </p:nvGrpSpPr>
        <p:grpSpPr>
          <a:xfrm flipH="1">
            <a:off x="6633310" y="0"/>
            <a:ext cx="2791656" cy="2002925"/>
            <a:chOff x="-347226" y="-3"/>
            <a:chExt cx="3429974" cy="2460899"/>
          </a:xfrm>
        </p:grpSpPr>
        <p:sp>
          <p:nvSpPr>
            <p:cNvPr id="66" name="Google Shape;66;p14"/>
            <p:cNvSpPr/>
            <p:nvPr/>
          </p:nvSpPr>
          <p:spPr>
            <a:xfrm>
              <a:off x="-1582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rgbClr val="06104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-15826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14"/>
            <p:cNvGrpSpPr/>
            <p:nvPr/>
          </p:nvGrpSpPr>
          <p:grpSpPr>
            <a:xfrm>
              <a:off x="-347226" y="674082"/>
              <a:ext cx="3153725" cy="940604"/>
              <a:chOff x="-104552" y="1952776"/>
              <a:chExt cx="5543549" cy="1653374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4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7750" y="247050"/>
            <a:ext cx="1098051" cy="29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424600" y="1576450"/>
            <a:ext cx="42948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4" name="Google Shape;84;p16"/>
          <p:cNvGrpSpPr/>
          <p:nvPr/>
        </p:nvGrpSpPr>
        <p:grpSpPr>
          <a:xfrm>
            <a:off x="463703" y="185251"/>
            <a:ext cx="8416275" cy="4747013"/>
            <a:chOff x="463703" y="185251"/>
            <a:chExt cx="8416275" cy="4747013"/>
          </a:xfrm>
        </p:grpSpPr>
        <p:sp>
          <p:nvSpPr>
            <p:cNvPr id="85" name="Google Shape;85;p16"/>
            <p:cNvSpPr/>
            <p:nvPr/>
          </p:nvSpPr>
          <p:spPr>
            <a:xfrm flipH="1">
              <a:off x="463703" y="1614676"/>
              <a:ext cx="77700" cy="77700"/>
            </a:xfrm>
            <a:prstGeom prst="rect">
              <a:avLst/>
            </a:prstGeom>
            <a:solidFill>
              <a:srgbClr val="2C2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 flipH="1">
              <a:off x="8802278" y="2919701"/>
              <a:ext cx="77700" cy="77700"/>
            </a:xfrm>
            <a:prstGeom prst="rect">
              <a:avLst/>
            </a:prstGeom>
            <a:solidFill>
              <a:srgbClr val="006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 flipH="1">
              <a:off x="6003878" y="185251"/>
              <a:ext cx="77700" cy="77700"/>
            </a:xfrm>
            <a:prstGeom prst="rect">
              <a:avLst/>
            </a:prstGeom>
            <a:solidFill>
              <a:srgbClr val="2C2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 flipH="1">
              <a:off x="4753178" y="4854564"/>
              <a:ext cx="77700" cy="77700"/>
            </a:xfrm>
            <a:prstGeom prst="rect">
              <a:avLst/>
            </a:prstGeom>
            <a:solidFill>
              <a:srgbClr val="2C2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89" name="Google Shape;89;p16"/>
          <p:cNvGrpSpPr/>
          <p:nvPr/>
        </p:nvGrpSpPr>
        <p:grpSpPr>
          <a:xfrm>
            <a:off x="-1089529" y="788905"/>
            <a:ext cx="11663606" cy="3565690"/>
            <a:chOff x="-1089529" y="788905"/>
            <a:chExt cx="11663606" cy="3565690"/>
          </a:xfrm>
        </p:grpSpPr>
        <p:grpSp>
          <p:nvGrpSpPr>
            <p:cNvPr id="90" name="Google Shape;90;p16"/>
            <p:cNvGrpSpPr/>
            <p:nvPr/>
          </p:nvGrpSpPr>
          <p:grpSpPr>
            <a:xfrm flipH="1">
              <a:off x="8190471" y="788905"/>
              <a:ext cx="2383606" cy="2130790"/>
              <a:chOff x="2439425" y="817125"/>
              <a:chExt cx="2884325" cy="2578400"/>
            </a:xfrm>
          </p:grpSpPr>
          <p:sp>
            <p:nvSpPr>
              <p:cNvPr id="91" name="Google Shape;91;p16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92" name="Google Shape;92;p16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93" name="Google Shape;93;p16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95" name="Google Shape;95;p16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96" name="Google Shape;96;p16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97" name="Google Shape;97;p16"/>
            <p:cNvGrpSpPr/>
            <p:nvPr/>
          </p:nvGrpSpPr>
          <p:grpSpPr>
            <a:xfrm flipH="1" rot="10800000">
              <a:off x="-1089529" y="2223805"/>
              <a:ext cx="2383606" cy="2130790"/>
              <a:chOff x="2439425" y="817125"/>
              <a:chExt cx="2884325" cy="2578400"/>
            </a:xfrm>
          </p:grpSpPr>
          <p:sp>
            <p:nvSpPr>
              <p:cNvPr id="98" name="Google Shape;98;p16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99" name="Google Shape;99;p16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100" name="Google Shape;100;p16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104" name="Google Shape;104;p16"/>
          <p:cNvGrpSpPr/>
          <p:nvPr/>
        </p:nvGrpSpPr>
        <p:grpSpPr>
          <a:xfrm>
            <a:off x="0" y="1"/>
            <a:ext cx="9144000" cy="5143499"/>
            <a:chOff x="0" y="1"/>
            <a:chExt cx="9144000" cy="5143499"/>
          </a:xfrm>
        </p:grpSpPr>
        <p:sp>
          <p:nvSpPr>
            <p:cNvPr id="105" name="Google Shape;105;p16"/>
            <p:cNvSpPr/>
            <p:nvPr/>
          </p:nvSpPr>
          <p:spPr>
            <a:xfrm flipH="1" rot="10800000">
              <a:off x="0" y="4643321"/>
              <a:ext cx="1904362" cy="500179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flipH="1">
              <a:off x="7239638" y="1"/>
              <a:ext cx="1904362" cy="50018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7750" y="247050"/>
            <a:ext cx="1098051" cy="29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 amt="18000"/>
          </a:blip>
          <a:srcRect b="0" l="0" r="0" t="0"/>
          <a:stretch/>
        </p:blipFill>
        <p:spPr>
          <a:xfrm>
            <a:off x="75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 amt="18000"/>
          </a:blip>
          <a:srcRect b="0" l="0" r="0" t="0"/>
          <a:stretch/>
        </p:blipFill>
        <p:spPr>
          <a:xfrm>
            <a:off x="75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7750" y="247050"/>
            <a:ext cx="1098051" cy="29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29"/>
          <p:cNvGrpSpPr/>
          <p:nvPr/>
        </p:nvGrpSpPr>
        <p:grpSpPr>
          <a:xfrm>
            <a:off x="-286802" y="0"/>
            <a:ext cx="2959039" cy="2123017"/>
            <a:chOff x="-347226" y="-3"/>
            <a:chExt cx="3429974" cy="2460899"/>
          </a:xfrm>
        </p:grpSpPr>
        <p:sp>
          <p:nvSpPr>
            <p:cNvPr id="162" name="Google Shape;162;p29"/>
            <p:cNvSpPr/>
            <p:nvPr/>
          </p:nvSpPr>
          <p:spPr>
            <a:xfrm>
              <a:off x="-1582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rgbClr val="06104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9"/>
            <p:cNvSpPr/>
            <p:nvPr/>
          </p:nvSpPr>
          <p:spPr>
            <a:xfrm>
              <a:off x="-15826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4" name="Google Shape;164;p29"/>
            <p:cNvGrpSpPr/>
            <p:nvPr/>
          </p:nvGrpSpPr>
          <p:grpSpPr>
            <a:xfrm>
              <a:off x="-347226" y="674083"/>
              <a:ext cx="3153725" cy="940604"/>
              <a:chOff x="-104552" y="1952776"/>
              <a:chExt cx="5543549" cy="1653374"/>
            </a:xfrm>
          </p:grpSpPr>
          <p:sp>
            <p:nvSpPr>
              <p:cNvPr id="165" name="Google Shape;165;p29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29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29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29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9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0" name="Google Shape;170;p29"/>
          <p:cNvGrpSpPr/>
          <p:nvPr/>
        </p:nvGrpSpPr>
        <p:grpSpPr>
          <a:xfrm flipH="1">
            <a:off x="6633310" y="0"/>
            <a:ext cx="2791656" cy="2002925"/>
            <a:chOff x="-347226" y="-3"/>
            <a:chExt cx="3429974" cy="2460899"/>
          </a:xfrm>
        </p:grpSpPr>
        <p:sp>
          <p:nvSpPr>
            <p:cNvPr id="171" name="Google Shape;171;p29"/>
            <p:cNvSpPr/>
            <p:nvPr/>
          </p:nvSpPr>
          <p:spPr>
            <a:xfrm>
              <a:off x="-15828" y="-3"/>
              <a:ext cx="3098576" cy="2460899"/>
            </a:xfrm>
            <a:custGeom>
              <a:rect b="b" l="l" r="r" t="t"/>
              <a:pathLst>
                <a:path extrusionOk="0" h="1536" w="1930">
                  <a:moveTo>
                    <a:pt x="0" y="1522"/>
                  </a:moveTo>
                  <a:cubicBezTo>
                    <a:pt x="165" y="1522"/>
                    <a:pt x="165" y="1522"/>
                    <a:pt x="165" y="1522"/>
                  </a:cubicBezTo>
                  <a:cubicBezTo>
                    <a:pt x="190" y="1522"/>
                    <a:pt x="214" y="1512"/>
                    <a:pt x="231" y="1495"/>
                  </a:cubicBezTo>
                  <a:cubicBezTo>
                    <a:pt x="1192" y="534"/>
                    <a:pt x="1192" y="534"/>
                    <a:pt x="1192" y="534"/>
                  </a:cubicBezTo>
                  <a:cubicBezTo>
                    <a:pt x="1210" y="516"/>
                    <a:pt x="1233" y="506"/>
                    <a:pt x="1258" y="506"/>
                  </a:cubicBezTo>
                  <a:cubicBezTo>
                    <a:pt x="1486" y="506"/>
                    <a:pt x="1486" y="506"/>
                    <a:pt x="1486" y="506"/>
                  </a:cubicBezTo>
                  <a:cubicBezTo>
                    <a:pt x="1511" y="506"/>
                    <a:pt x="1535" y="497"/>
                    <a:pt x="1552" y="479"/>
                  </a:cubicBezTo>
                  <a:cubicBezTo>
                    <a:pt x="1871" y="161"/>
                    <a:pt x="1871" y="161"/>
                    <a:pt x="1871" y="161"/>
                  </a:cubicBezTo>
                  <a:cubicBezTo>
                    <a:pt x="1930" y="101"/>
                    <a:pt x="1888" y="0"/>
                    <a:pt x="1804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53" y="0"/>
                    <a:pt x="11" y="42"/>
                    <a:pt x="11" y="94"/>
                  </a:cubicBezTo>
                  <a:cubicBezTo>
                    <a:pt x="7" y="1536"/>
                    <a:pt x="7" y="1536"/>
                    <a:pt x="7" y="1536"/>
                  </a:cubicBezTo>
                </a:path>
              </a:pathLst>
            </a:custGeom>
            <a:solidFill>
              <a:srgbClr val="06104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9"/>
            <p:cNvSpPr/>
            <p:nvPr/>
          </p:nvSpPr>
          <p:spPr>
            <a:xfrm>
              <a:off x="-15826" y="0"/>
              <a:ext cx="2251103" cy="59125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3" name="Google Shape;173;p29"/>
            <p:cNvGrpSpPr/>
            <p:nvPr/>
          </p:nvGrpSpPr>
          <p:grpSpPr>
            <a:xfrm>
              <a:off x="-347226" y="674083"/>
              <a:ext cx="3153725" cy="940604"/>
              <a:chOff x="-104552" y="1952776"/>
              <a:chExt cx="5543549" cy="1653374"/>
            </a:xfrm>
          </p:grpSpPr>
          <p:sp>
            <p:nvSpPr>
              <p:cNvPr id="174" name="Google Shape;174;p29"/>
              <p:cNvSpPr/>
              <p:nvPr/>
            </p:nvSpPr>
            <p:spPr>
              <a:xfrm>
                <a:off x="-104552" y="1952776"/>
                <a:ext cx="5543549" cy="1647825"/>
              </a:xfrm>
              <a:custGeom>
                <a:rect b="b" l="l" r="r" t="t"/>
                <a:pathLst>
                  <a:path extrusionOk="0" h="315" w="1064">
                    <a:moveTo>
                      <a:pt x="1051" y="0"/>
                    </a:moveTo>
                    <a:cubicBezTo>
                      <a:pt x="1044" y="0"/>
                      <a:pt x="1038" y="5"/>
                      <a:pt x="1038" y="12"/>
                    </a:cubicBezTo>
                    <a:cubicBezTo>
                      <a:pt x="458" y="12"/>
                      <a:pt x="458" y="12"/>
                      <a:pt x="458" y="12"/>
                    </a:cubicBezTo>
                    <a:cubicBezTo>
                      <a:pt x="435" y="12"/>
                      <a:pt x="414" y="21"/>
                      <a:pt x="397" y="37"/>
                    </a:cubicBezTo>
                    <a:cubicBezTo>
                      <a:pt x="360" y="74"/>
                      <a:pt x="360" y="74"/>
                      <a:pt x="360" y="74"/>
                    </a:cubicBezTo>
                    <a:cubicBezTo>
                      <a:pt x="307" y="74"/>
                      <a:pt x="307" y="74"/>
                      <a:pt x="307" y="74"/>
                    </a:cubicBezTo>
                    <a:cubicBezTo>
                      <a:pt x="284" y="74"/>
                      <a:pt x="263" y="83"/>
                      <a:pt x="246" y="99"/>
                    </a:cubicBezTo>
                    <a:cubicBezTo>
                      <a:pt x="58" y="288"/>
                      <a:pt x="58" y="288"/>
                      <a:pt x="58" y="288"/>
                    </a:cubicBezTo>
                    <a:cubicBezTo>
                      <a:pt x="43" y="303"/>
                      <a:pt x="22" y="312"/>
                      <a:pt x="0" y="312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116" y="315"/>
                      <a:pt x="116" y="315"/>
                      <a:pt x="116" y="315"/>
                    </a:cubicBezTo>
                    <a:cubicBezTo>
                      <a:pt x="116" y="312"/>
                      <a:pt x="116" y="312"/>
                      <a:pt x="116" y="312"/>
                    </a:cubicBezTo>
                    <a:cubicBezTo>
                      <a:pt x="23" y="312"/>
                      <a:pt x="23" y="312"/>
                      <a:pt x="23" y="312"/>
                    </a:cubicBezTo>
                    <a:cubicBezTo>
                      <a:pt x="37" y="308"/>
                      <a:pt x="50" y="300"/>
                      <a:pt x="61" y="290"/>
                    </a:cubicBezTo>
                    <a:cubicBezTo>
                      <a:pt x="249" y="102"/>
                      <a:pt x="249" y="102"/>
                      <a:pt x="249" y="102"/>
                    </a:cubicBezTo>
                    <a:cubicBezTo>
                      <a:pt x="264" y="86"/>
                      <a:pt x="285" y="77"/>
                      <a:pt x="307" y="77"/>
                    </a:cubicBezTo>
                    <a:cubicBezTo>
                      <a:pt x="357" y="77"/>
                      <a:pt x="357" y="77"/>
                      <a:pt x="357" y="77"/>
                    </a:cubicBezTo>
                    <a:cubicBezTo>
                      <a:pt x="209" y="225"/>
                      <a:pt x="209" y="225"/>
                      <a:pt x="209" y="225"/>
                    </a:cubicBezTo>
                    <a:cubicBezTo>
                      <a:pt x="194" y="241"/>
                      <a:pt x="173" y="249"/>
                      <a:pt x="151" y="249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6" y="252"/>
                      <a:pt x="116" y="252"/>
                      <a:pt x="116" y="252"/>
                    </a:cubicBezTo>
                    <a:cubicBezTo>
                      <a:pt x="151" y="252"/>
                      <a:pt x="151" y="252"/>
                      <a:pt x="151" y="252"/>
                    </a:cubicBezTo>
                    <a:cubicBezTo>
                      <a:pt x="174" y="252"/>
                      <a:pt x="195" y="243"/>
                      <a:pt x="212" y="227"/>
                    </a:cubicBezTo>
                    <a:cubicBezTo>
                      <a:pt x="361" y="77"/>
                      <a:pt x="361" y="77"/>
                      <a:pt x="361" y="77"/>
                    </a:cubicBezTo>
                    <a:cubicBezTo>
                      <a:pt x="887" y="77"/>
                      <a:pt x="887" y="77"/>
                      <a:pt x="887" y="77"/>
                    </a:cubicBezTo>
                    <a:cubicBezTo>
                      <a:pt x="888" y="84"/>
                      <a:pt x="893" y="89"/>
                      <a:pt x="900" y="89"/>
                    </a:cubicBezTo>
                    <a:cubicBezTo>
                      <a:pt x="907" y="89"/>
                      <a:pt x="913" y="83"/>
                      <a:pt x="913" y="76"/>
                    </a:cubicBezTo>
                    <a:cubicBezTo>
                      <a:pt x="913" y="68"/>
                      <a:pt x="907" y="62"/>
                      <a:pt x="900" y="62"/>
                    </a:cubicBezTo>
                    <a:cubicBezTo>
                      <a:pt x="893" y="62"/>
                      <a:pt x="888" y="68"/>
                      <a:pt x="887" y="74"/>
                    </a:cubicBezTo>
                    <a:cubicBezTo>
                      <a:pt x="365" y="74"/>
                      <a:pt x="365" y="74"/>
                      <a:pt x="365" y="74"/>
                    </a:cubicBezTo>
                    <a:cubicBezTo>
                      <a:pt x="400" y="39"/>
                      <a:pt x="400" y="39"/>
                      <a:pt x="400" y="39"/>
                    </a:cubicBezTo>
                    <a:cubicBezTo>
                      <a:pt x="415" y="23"/>
                      <a:pt x="436" y="15"/>
                      <a:pt x="458" y="15"/>
                    </a:cubicBezTo>
                    <a:cubicBezTo>
                      <a:pt x="1038" y="15"/>
                      <a:pt x="1038" y="15"/>
                      <a:pt x="1038" y="15"/>
                    </a:cubicBezTo>
                    <a:cubicBezTo>
                      <a:pt x="1038" y="21"/>
                      <a:pt x="1044" y="27"/>
                      <a:pt x="1051" y="27"/>
                    </a:cubicBezTo>
                    <a:cubicBezTo>
                      <a:pt x="1058" y="27"/>
                      <a:pt x="1064" y="21"/>
                      <a:pt x="1064" y="13"/>
                    </a:cubicBezTo>
                    <a:cubicBezTo>
                      <a:pt x="1064" y="6"/>
                      <a:pt x="1058" y="0"/>
                      <a:pt x="1051" y="0"/>
                    </a:cubicBezTo>
                    <a:close/>
                    <a:moveTo>
                      <a:pt x="900" y="66"/>
                    </a:moveTo>
                    <a:cubicBezTo>
                      <a:pt x="905" y="66"/>
                      <a:pt x="909" y="71"/>
                      <a:pt x="909" y="76"/>
                    </a:cubicBezTo>
                    <a:cubicBezTo>
                      <a:pt x="909" y="81"/>
                      <a:pt x="905" y="85"/>
                      <a:pt x="900" y="85"/>
                    </a:cubicBezTo>
                    <a:cubicBezTo>
                      <a:pt x="895" y="85"/>
                      <a:pt x="892" y="82"/>
                      <a:pt x="891" y="77"/>
                    </a:cubicBezTo>
                    <a:cubicBezTo>
                      <a:pt x="900" y="77"/>
                      <a:pt x="900" y="77"/>
                      <a:pt x="900" y="77"/>
                    </a:cubicBezTo>
                    <a:cubicBezTo>
                      <a:pt x="900" y="74"/>
                      <a:pt x="900" y="74"/>
                      <a:pt x="900" y="74"/>
                    </a:cubicBezTo>
                    <a:cubicBezTo>
                      <a:pt x="891" y="74"/>
                      <a:pt x="891" y="74"/>
                      <a:pt x="891" y="74"/>
                    </a:cubicBezTo>
                    <a:cubicBezTo>
                      <a:pt x="892" y="70"/>
                      <a:pt x="895" y="66"/>
                      <a:pt x="900" y="66"/>
                    </a:cubicBezTo>
                    <a:close/>
                    <a:moveTo>
                      <a:pt x="1051" y="23"/>
                    </a:moveTo>
                    <a:cubicBezTo>
                      <a:pt x="1046" y="23"/>
                      <a:pt x="1042" y="19"/>
                      <a:pt x="1042" y="15"/>
                    </a:cubicBezTo>
                    <a:cubicBezTo>
                      <a:pt x="1051" y="15"/>
                      <a:pt x="1051" y="15"/>
                      <a:pt x="1051" y="15"/>
                    </a:cubicBezTo>
                    <a:cubicBezTo>
                      <a:pt x="1051" y="12"/>
                      <a:pt x="1051" y="12"/>
                      <a:pt x="1051" y="12"/>
                    </a:cubicBezTo>
                    <a:cubicBezTo>
                      <a:pt x="1042" y="12"/>
                      <a:pt x="1042" y="12"/>
                      <a:pt x="1042" y="12"/>
                    </a:cubicBezTo>
                    <a:cubicBezTo>
                      <a:pt x="1042" y="7"/>
                      <a:pt x="1046" y="4"/>
                      <a:pt x="1051" y="4"/>
                    </a:cubicBezTo>
                    <a:cubicBezTo>
                      <a:pt x="1056" y="4"/>
                      <a:pt x="1060" y="8"/>
                      <a:pt x="1060" y="13"/>
                    </a:cubicBezTo>
                    <a:cubicBezTo>
                      <a:pt x="1060" y="18"/>
                      <a:pt x="1056" y="23"/>
                      <a:pt x="1051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29"/>
              <p:cNvSpPr/>
              <p:nvPr/>
            </p:nvSpPr>
            <p:spPr>
              <a:xfrm>
                <a:off x="496925" y="2904262"/>
                <a:ext cx="3202515" cy="701888"/>
              </a:xfrm>
              <a:custGeom>
                <a:rect b="b" l="l" r="r" t="t"/>
                <a:pathLst>
                  <a:path extrusionOk="0" h="135" w="622">
                    <a:moveTo>
                      <a:pt x="175" y="100"/>
                    </a:moveTo>
                    <a:cubicBezTo>
                      <a:pt x="172" y="100"/>
                      <a:pt x="172" y="100"/>
                      <a:pt x="172" y="100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44" y="128"/>
                      <a:pt x="132" y="133"/>
                      <a:pt x="120" y="133"/>
                    </a:cubicBez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20" y="135"/>
                      <a:pt x="120" y="135"/>
                      <a:pt x="120" y="135"/>
                    </a:cubicBezTo>
                    <a:cubicBezTo>
                      <a:pt x="133" y="135"/>
                      <a:pt x="145" y="130"/>
                      <a:pt x="154" y="120"/>
                    </a:cubicBezTo>
                    <a:cubicBezTo>
                      <a:pt x="175" y="100"/>
                      <a:pt x="175" y="100"/>
                      <a:pt x="175" y="100"/>
                    </a:cubicBezTo>
                    <a:moveTo>
                      <a:pt x="321" y="0"/>
                    </a:moveTo>
                    <a:cubicBezTo>
                      <a:pt x="292" y="0"/>
                      <a:pt x="292" y="0"/>
                      <a:pt x="292" y="0"/>
                    </a:cubicBezTo>
                    <a:cubicBezTo>
                      <a:pt x="279" y="0"/>
                      <a:pt x="267" y="5"/>
                      <a:pt x="258" y="14"/>
                    </a:cubicBezTo>
                    <a:cubicBezTo>
                      <a:pt x="174" y="98"/>
                      <a:pt x="174" y="98"/>
                      <a:pt x="174" y="98"/>
                    </a:cubicBezTo>
                    <a:cubicBezTo>
                      <a:pt x="176" y="98"/>
                      <a:pt x="176" y="98"/>
                      <a:pt x="176" y="98"/>
                    </a:cubicBezTo>
                    <a:cubicBezTo>
                      <a:pt x="259" y="16"/>
                      <a:pt x="259" y="16"/>
                      <a:pt x="259" y="16"/>
                    </a:cubicBezTo>
                    <a:cubicBezTo>
                      <a:pt x="268" y="7"/>
                      <a:pt x="279" y="2"/>
                      <a:pt x="292" y="2"/>
                    </a:cubicBezTo>
                    <a:cubicBezTo>
                      <a:pt x="319" y="2"/>
                      <a:pt x="319" y="2"/>
                      <a:pt x="319" y="2"/>
                    </a:cubicBezTo>
                    <a:cubicBezTo>
                      <a:pt x="321" y="0"/>
                      <a:pt x="321" y="0"/>
                      <a:pt x="321" y="0"/>
                    </a:cubicBezTo>
                    <a:moveTo>
                      <a:pt x="622" y="0"/>
                    </a:moveTo>
                    <a:cubicBezTo>
                      <a:pt x="323" y="0"/>
                      <a:pt x="323" y="0"/>
                      <a:pt x="323" y="0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622" y="2"/>
                      <a:pt x="622" y="2"/>
                      <a:pt x="622" y="2"/>
                    </a:cubicBezTo>
                    <a:cubicBezTo>
                      <a:pt x="622" y="0"/>
                      <a:pt x="622" y="0"/>
                      <a:pt x="62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29"/>
              <p:cNvSpPr/>
              <p:nvPr/>
            </p:nvSpPr>
            <p:spPr>
              <a:xfrm>
                <a:off x="496925" y="2721815"/>
                <a:ext cx="3635028" cy="702961"/>
              </a:xfrm>
              <a:custGeom>
                <a:rect b="b" l="l" r="r" t="t"/>
                <a:pathLst>
                  <a:path extrusionOk="0" h="135" w="706">
                    <a:moveTo>
                      <a:pt x="174" y="133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4" y="133"/>
                      <a:pt x="174" y="133"/>
                      <a:pt x="174" y="133"/>
                    </a:cubicBezTo>
                    <a:moveTo>
                      <a:pt x="322" y="37"/>
                    </a:moveTo>
                    <a:cubicBezTo>
                      <a:pt x="319" y="37"/>
                      <a:pt x="319" y="37"/>
                      <a:pt x="319" y="37"/>
                    </a:cubicBezTo>
                    <a:cubicBezTo>
                      <a:pt x="237" y="119"/>
                      <a:pt x="237" y="119"/>
                      <a:pt x="237" y="119"/>
                    </a:cubicBezTo>
                    <a:cubicBezTo>
                      <a:pt x="228" y="128"/>
                      <a:pt x="216" y="133"/>
                      <a:pt x="204" y="133"/>
                    </a:cubicBezTo>
                    <a:cubicBezTo>
                      <a:pt x="176" y="133"/>
                      <a:pt x="176" y="133"/>
                      <a:pt x="176" y="133"/>
                    </a:cubicBezTo>
                    <a:cubicBezTo>
                      <a:pt x="175" y="135"/>
                      <a:pt x="175" y="135"/>
                      <a:pt x="175" y="135"/>
                    </a:cubicBezTo>
                    <a:cubicBezTo>
                      <a:pt x="204" y="135"/>
                      <a:pt x="204" y="135"/>
                      <a:pt x="204" y="135"/>
                    </a:cubicBezTo>
                    <a:cubicBezTo>
                      <a:pt x="217" y="135"/>
                      <a:pt x="229" y="130"/>
                      <a:pt x="238" y="121"/>
                    </a:cubicBezTo>
                    <a:cubicBezTo>
                      <a:pt x="322" y="37"/>
                      <a:pt x="322" y="37"/>
                      <a:pt x="322" y="37"/>
                    </a:cubicBezTo>
                    <a:moveTo>
                      <a:pt x="706" y="0"/>
                    </a:moveTo>
                    <a:cubicBezTo>
                      <a:pt x="376" y="0"/>
                      <a:pt x="376" y="0"/>
                      <a:pt x="376" y="0"/>
                    </a:cubicBezTo>
                    <a:cubicBezTo>
                      <a:pt x="363" y="0"/>
                      <a:pt x="351" y="5"/>
                      <a:pt x="342" y="14"/>
                    </a:cubicBezTo>
                    <a:cubicBezTo>
                      <a:pt x="321" y="35"/>
                      <a:pt x="321" y="35"/>
                      <a:pt x="321" y="35"/>
                    </a:cubicBezTo>
                    <a:cubicBezTo>
                      <a:pt x="323" y="35"/>
                      <a:pt x="323" y="35"/>
                      <a:pt x="323" y="35"/>
                    </a:cubicBezTo>
                    <a:cubicBezTo>
                      <a:pt x="343" y="16"/>
                      <a:pt x="343" y="16"/>
                      <a:pt x="343" y="16"/>
                    </a:cubicBezTo>
                    <a:cubicBezTo>
                      <a:pt x="352" y="7"/>
                      <a:pt x="363" y="2"/>
                      <a:pt x="376" y="2"/>
                    </a:cubicBezTo>
                    <a:cubicBezTo>
                      <a:pt x="706" y="2"/>
                      <a:pt x="706" y="2"/>
                      <a:pt x="706" y="2"/>
                    </a:cubicBezTo>
                    <a:cubicBezTo>
                      <a:pt x="706" y="0"/>
                      <a:pt x="706" y="0"/>
                      <a:pt x="70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9"/>
              <p:cNvSpPr/>
              <p:nvPr/>
            </p:nvSpPr>
            <p:spPr>
              <a:xfrm>
                <a:off x="3657584" y="2867773"/>
                <a:ext cx="82639" cy="82639"/>
              </a:xfrm>
              <a:custGeom>
                <a:rect b="b" l="l" r="r" t="t"/>
                <a:pathLst>
                  <a:path extrusionOk="0" h="16" w="16">
                    <a:moveTo>
                      <a:pt x="8" y="16"/>
                    </a:moveTo>
                    <a:cubicBezTo>
                      <a:pt x="3" y="16"/>
                      <a:pt x="0" y="13"/>
                      <a:pt x="0" y="8"/>
                    </a:cubicBezTo>
                    <a:cubicBezTo>
                      <a:pt x="0" y="3"/>
                      <a:pt x="3" y="0"/>
                      <a:pt x="8" y="0"/>
                    </a:cubicBezTo>
                    <a:cubicBezTo>
                      <a:pt x="13" y="0"/>
                      <a:pt x="16" y="3"/>
                      <a:pt x="16" y="8"/>
                    </a:cubicBezTo>
                    <a:cubicBezTo>
                      <a:pt x="16" y="13"/>
                      <a:pt x="13" y="16"/>
                      <a:pt x="8" y="16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2"/>
                      <a:pt x="8" y="12"/>
                    </a:cubicBezTo>
                    <a:cubicBezTo>
                      <a:pt x="10" y="12"/>
                      <a:pt x="12" y="11"/>
                      <a:pt x="12" y="8"/>
                    </a:cubicBezTo>
                    <a:cubicBezTo>
                      <a:pt x="12" y="6"/>
                      <a:pt x="10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29"/>
              <p:cNvSpPr/>
              <p:nvPr/>
            </p:nvSpPr>
            <p:spPr>
              <a:xfrm>
                <a:off x="4090095" y="2685325"/>
                <a:ext cx="88005" cy="88004"/>
              </a:xfrm>
              <a:custGeom>
                <a:rect b="b" l="l" r="r" t="t"/>
                <a:pathLst>
                  <a:path extrusionOk="0" h="17" w="17">
                    <a:moveTo>
                      <a:pt x="8" y="17"/>
                    </a:moveTo>
                    <a:cubicBezTo>
                      <a:pt x="4" y="17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7" y="13"/>
                      <a:pt x="13" y="17"/>
                      <a:pt x="8" y="17"/>
                    </a:cubicBezTo>
                    <a:close/>
                    <a:moveTo>
                      <a:pt x="8" y="4"/>
                    </a:moveTo>
                    <a:cubicBezTo>
                      <a:pt x="6" y="4"/>
                      <a:pt x="4" y="6"/>
                      <a:pt x="4" y="8"/>
                    </a:cubicBezTo>
                    <a:cubicBezTo>
                      <a:pt x="4" y="11"/>
                      <a:pt x="6" y="13"/>
                      <a:pt x="8" y="13"/>
                    </a:cubicBezTo>
                    <a:cubicBezTo>
                      <a:pt x="11" y="13"/>
                      <a:pt x="13" y="11"/>
                      <a:pt x="13" y="8"/>
                    </a:cubicBezTo>
                    <a:cubicBezTo>
                      <a:pt x="13" y="6"/>
                      <a:pt x="11" y="4"/>
                      <a:pt x="8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/>
          <p:nvPr/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2424600" y="1576450"/>
            <a:ext cx="42948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4" name="Google Shape;184;p30"/>
          <p:cNvGrpSpPr/>
          <p:nvPr/>
        </p:nvGrpSpPr>
        <p:grpSpPr>
          <a:xfrm>
            <a:off x="463703" y="185251"/>
            <a:ext cx="8416275" cy="4747013"/>
            <a:chOff x="463703" y="185251"/>
            <a:chExt cx="8416275" cy="4747013"/>
          </a:xfrm>
        </p:grpSpPr>
        <p:sp>
          <p:nvSpPr>
            <p:cNvPr id="185" name="Google Shape;185;p30"/>
            <p:cNvSpPr/>
            <p:nvPr/>
          </p:nvSpPr>
          <p:spPr>
            <a:xfrm flipH="1">
              <a:off x="463703" y="1614676"/>
              <a:ext cx="77700" cy="77700"/>
            </a:xfrm>
            <a:prstGeom prst="rect">
              <a:avLst/>
            </a:prstGeom>
            <a:solidFill>
              <a:srgbClr val="2C2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6" name="Google Shape;186;p30"/>
            <p:cNvSpPr/>
            <p:nvPr/>
          </p:nvSpPr>
          <p:spPr>
            <a:xfrm flipH="1">
              <a:off x="8802278" y="2919701"/>
              <a:ext cx="77700" cy="77700"/>
            </a:xfrm>
            <a:prstGeom prst="rect">
              <a:avLst/>
            </a:prstGeom>
            <a:solidFill>
              <a:srgbClr val="006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7" name="Google Shape;187;p30"/>
            <p:cNvSpPr/>
            <p:nvPr/>
          </p:nvSpPr>
          <p:spPr>
            <a:xfrm flipH="1">
              <a:off x="6003878" y="185251"/>
              <a:ext cx="77700" cy="77700"/>
            </a:xfrm>
            <a:prstGeom prst="rect">
              <a:avLst/>
            </a:prstGeom>
            <a:solidFill>
              <a:srgbClr val="2C2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8" name="Google Shape;188;p30"/>
            <p:cNvSpPr/>
            <p:nvPr/>
          </p:nvSpPr>
          <p:spPr>
            <a:xfrm flipH="1">
              <a:off x="4753178" y="4854564"/>
              <a:ext cx="77700" cy="77700"/>
            </a:xfrm>
            <a:prstGeom prst="rect">
              <a:avLst/>
            </a:prstGeom>
            <a:solidFill>
              <a:srgbClr val="2C2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89" name="Google Shape;189;p30"/>
          <p:cNvGrpSpPr/>
          <p:nvPr/>
        </p:nvGrpSpPr>
        <p:grpSpPr>
          <a:xfrm>
            <a:off x="-1089529" y="788905"/>
            <a:ext cx="11663606" cy="3565690"/>
            <a:chOff x="-1089529" y="788905"/>
            <a:chExt cx="11663606" cy="3565690"/>
          </a:xfrm>
        </p:grpSpPr>
        <p:grpSp>
          <p:nvGrpSpPr>
            <p:cNvPr id="190" name="Google Shape;190;p30"/>
            <p:cNvGrpSpPr/>
            <p:nvPr/>
          </p:nvGrpSpPr>
          <p:grpSpPr>
            <a:xfrm flipH="1">
              <a:off x="8190471" y="788905"/>
              <a:ext cx="2383606" cy="2130790"/>
              <a:chOff x="2439425" y="817125"/>
              <a:chExt cx="2884325" cy="2578400"/>
            </a:xfrm>
          </p:grpSpPr>
          <p:sp>
            <p:nvSpPr>
              <p:cNvPr id="191" name="Google Shape;191;p30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192" name="Google Shape;192;p30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193" name="Google Shape;193;p30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94" name="Google Shape;194;p30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95" name="Google Shape;195;p30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96" name="Google Shape;196;p30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197" name="Google Shape;197;p30"/>
            <p:cNvGrpSpPr/>
            <p:nvPr/>
          </p:nvGrpSpPr>
          <p:grpSpPr>
            <a:xfrm flipH="1" rot="10800000">
              <a:off x="-1089529" y="2223805"/>
              <a:ext cx="2383606" cy="2130790"/>
              <a:chOff x="2439425" y="817125"/>
              <a:chExt cx="2884325" cy="2578400"/>
            </a:xfrm>
          </p:grpSpPr>
          <p:sp>
            <p:nvSpPr>
              <p:cNvPr id="198" name="Google Shape;198;p30"/>
              <p:cNvSpPr/>
              <p:nvPr/>
            </p:nvSpPr>
            <p:spPr>
              <a:xfrm>
                <a:off x="2468875" y="1532500"/>
                <a:ext cx="1965075" cy="1833200"/>
              </a:xfrm>
              <a:custGeom>
                <a:rect b="b" l="l" r="r" t="t"/>
                <a:pathLst>
                  <a:path extrusionOk="0" h="73328" w="78603">
                    <a:moveTo>
                      <a:pt x="0" y="73328"/>
                    </a:moveTo>
                    <a:lnTo>
                      <a:pt x="24478" y="48850"/>
                    </a:lnTo>
                    <a:lnTo>
                      <a:pt x="41781" y="48850"/>
                    </a:lnTo>
                    <a:lnTo>
                      <a:pt x="59295" y="31336"/>
                    </a:lnTo>
                    <a:lnTo>
                      <a:pt x="59295" y="19308"/>
                    </a:lnTo>
                    <a:lnTo>
                      <a:pt x="78603" y="0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199" name="Google Shape;199;p30"/>
              <p:cNvSpPr/>
              <p:nvPr/>
            </p:nvSpPr>
            <p:spPr>
              <a:xfrm>
                <a:off x="3129606" y="912006"/>
                <a:ext cx="2098275" cy="2037625"/>
              </a:xfrm>
              <a:custGeom>
                <a:rect b="b" l="l" r="r" t="t"/>
                <a:pathLst>
                  <a:path extrusionOk="0" h="81505" w="83931">
                    <a:moveTo>
                      <a:pt x="83931" y="0"/>
                    </a:moveTo>
                    <a:lnTo>
                      <a:pt x="63463" y="20468"/>
                    </a:lnTo>
                    <a:lnTo>
                      <a:pt x="63463" y="33340"/>
                    </a:lnTo>
                    <a:lnTo>
                      <a:pt x="43944" y="52859"/>
                    </a:lnTo>
                    <a:lnTo>
                      <a:pt x="28645" y="52859"/>
                    </a:lnTo>
                    <a:lnTo>
                      <a:pt x="0" y="81505"/>
                    </a:lnTo>
                  </a:path>
                </a:pathLst>
              </a:custGeom>
              <a:noFill/>
              <a:ln cap="flat" cmpd="sng" w="9525">
                <a:solidFill>
                  <a:srgbClr val="006EFF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200" name="Google Shape;200;p30"/>
              <p:cNvSpPr/>
              <p:nvPr/>
            </p:nvSpPr>
            <p:spPr>
              <a:xfrm>
                <a:off x="4404050" y="143547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01" name="Google Shape;201;p30"/>
              <p:cNvSpPr/>
              <p:nvPr/>
            </p:nvSpPr>
            <p:spPr>
              <a:xfrm>
                <a:off x="5195950" y="817125"/>
                <a:ext cx="127800" cy="1278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02" name="Google Shape;202;p30"/>
              <p:cNvSpPr/>
              <p:nvPr/>
            </p:nvSpPr>
            <p:spPr>
              <a:xfrm>
                <a:off x="3098175" y="2916400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203" name="Google Shape;203;p30"/>
              <p:cNvSpPr/>
              <p:nvPr/>
            </p:nvSpPr>
            <p:spPr>
              <a:xfrm>
                <a:off x="2439425" y="3331325"/>
                <a:ext cx="64200" cy="64200"/>
              </a:xfrm>
              <a:prstGeom prst="ellipse">
                <a:avLst/>
              </a:prstGeom>
              <a:solidFill>
                <a:srgbClr val="006E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204" name="Google Shape;204;p30"/>
          <p:cNvGrpSpPr/>
          <p:nvPr/>
        </p:nvGrpSpPr>
        <p:grpSpPr>
          <a:xfrm>
            <a:off x="0" y="1"/>
            <a:ext cx="9144000" cy="5143499"/>
            <a:chOff x="0" y="1"/>
            <a:chExt cx="9144000" cy="5143499"/>
          </a:xfrm>
        </p:grpSpPr>
        <p:sp>
          <p:nvSpPr>
            <p:cNvPr id="205" name="Google Shape;205;p30"/>
            <p:cNvSpPr/>
            <p:nvPr/>
          </p:nvSpPr>
          <p:spPr>
            <a:xfrm flipH="1" rot="10800000">
              <a:off x="0" y="4643321"/>
              <a:ext cx="1904362" cy="500179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0"/>
            <p:cNvSpPr/>
            <p:nvPr/>
          </p:nvSpPr>
          <p:spPr>
            <a:xfrm flipH="1">
              <a:off x="7239638" y="1"/>
              <a:ext cx="1904362" cy="500180"/>
            </a:xfrm>
            <a:custGeom>
              <a:rect b="b" l="l" r="r" t="t"/>
              <a:pathLst>
                <a:path extrusionOk="0" h="369" w="1409">
                  <a:moveTo>
                    <a:pt x="0" y="0"/>
                  </a:moveTo>
                  <a:cubicBezTo>
                    <a:pt x="0" y="369"/>
                    <a:pt x="0" y="369"/>
                    <a:pt x="0" y="369"/>
                  </a:cubicBezTo>
                  <a:cubicBezTo>
                    <a:pt x="849" y="369"/>
                    <a:pt x="849" y="369"/>
                    <a:pt x="849" y="369"/>
                  </a:cubicBezTo>
                  <a:cubicBezTo>
                    <a:pt x="874" y="369"/>
                    <a:pt x="899" y="359"/>
                    <a:pt x="917" y="341"/>
                  </a:cubicBezTo>
                  <a:cubicBezTo>
                    <a:pt x="1071" y="187"/>
                    <a:pt x="1071" y="187"/>
                    <a:pt x="1071" y="187"/>
                  </a:cubicBezTo>
                  <a:cubicBezTo>
                    <a:pt x="1089" y="169"/>
                    <a:pt x="1113" y="159"/>
                    <a:pt x="1139" y="159"/>
                  </a:cubicBezTo>
                  <a:cubicBezTo>
                    <a:pt x="1306" y="159"/>
                    <a:pt x="1306" y="159"/>
                    <a:pt x="1306" y="159"/>
                  </a:cubicBezTo>
                  <a:cubicBezTo>
                    <a:pt x="1355" y="159"/>
                    <a:pt x="1396" y="122"/>
                    <a:pt x="1401" y="74"/>
                  </a:cubicBezTo>
                  <a:cubicBezTo>
                    <a:pt x="1409" y="8"/>
                    <a:pt x="1409" y="8"/>
                    <a:pt x="1409" y="8"/>
                  </a:cubicBezTo>
                  <a:cubicBezTo>
                    <a:pt x="1409" y="5"/>
                    <a:pt x="1409" y="3"/>
                    <a:pt x="140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6E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7750" y="247050"/>
            <a:ext cx="1098051" cy="29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6" name="Google Shape;226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7" name="Google Shape;227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/>
        </p:nvSpPr>
        <p:spPr>
          <a:xfrm>
            <a:off x="145650" y="1717500"/>
            <a:ext cx="88527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b="1" lang="en" sz="5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Internet Basics, Browsers, Full-Stack Overview &amp; Cloud</a:t>
            </a:r>
            <a:endParaRPr b="1" i="0" sz="5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43" name="Google Shape;24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/>
          <p:nvPr/>
        </p:nvSpPr>
        <p:spPr>
          <a:xfrm>
            <a:off x="457732" y="292325"/>
            <a:ext cx="3700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0"/>
          <p:cNvSpPr/>
          <p:nvPr/>
        </p:nvSpPr>
        <p:spPr>
          <a:xfrm>
            <a:off x="364575" y="179325"/>
            <a:ext cx="37005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0"/>
          <p:cNvSpPr txBox="1"/>
          <p:nvPr/>
        </p:nvSpPr>
        <p:spPr>
          <a:xfrm>
            <a:off x="472975" y="143625"/>
            <a:ext cx="385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Learning Objectives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364575" y="1280950"/>
            <a:ext cx="7527900" cy="30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Today you will learn: 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Internet as global network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IP vs domain names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Role of DNS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Understand request–response model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HTTP vs HTTPS basics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Browser request and display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Frontend vs backend roles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Cloud as rented computing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Purpose of code editors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id="252" name="Google Shape;2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6625" y="1759725"/>
            <a:ext cx="2126152" cy="212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/>
        </p:nvSpPr>
        <p:spPr>
          <a:xfrm>
            <a:off x="1012513" y="1845250"/>
            <a:ext cx="711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7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Internet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58" name="Google Shape;2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/>
        </p:nvSpPr>
        <p:spPr>
          <a:xfrm>
            <a:off x="472975" y="1243175"/>
            <a:ext cx="587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7B2FF"/>
              </a:buClr>
              <a:buSzPts val="1800"/>
              <a:buFont typeface="Work Sans"/>
              <a:buChar char="●"/>
            </a:pP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The Internet is a global network of connected computers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B2FF"/>
              </a:buClr>
              <a:buSzPts val="1800"/>
              <a:buFont typeface="Work Sans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Millions of computers around the world are linked together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B2FF"/>
              </a:buClr>
              <a:buSzPts val="1800"/>
              <a:buFont typeface="Work Sans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These computers: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B2FF"/>
              </a:buClr>
              <a:buSzPts val="1800"/>
              <a:buFont typeface="Work Sans"/>
              <a:buChar char="○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Share information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B2FF"/>
              </a:buClr>
              <a:buSzPts val="1800"/>
              <a:buFont typeface="Work Sans"/>
              <a:buChar char="○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Send and receive data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7B2FF"/>
              </a:buClr>
              <a:buSzPts val="1800"/>
              <a:buFont typeface="Work Sans"/>
              <a:buChar char="○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Communicate using common rules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Internet = Computers talking to each other globally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64" name="Google Shape;264;p42"/>
          <p:cNvSpPr/>
          <p:nvPr/>
        </p:nvSpPr>
        <p:spPr>
          <a:xfrm>
            <a:off x="532750" y="292325"/>
            <a:ext cx="66210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2"/>
          <p:cNvSpPr/>
          <p:nvPr/>
        </p:nvSpPr>
        <p:spPr>
          <a:xfrm>
            <a:off x="364575" y="179325"/>
            <a:ext cx="66801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/>
        </p:nvSpPr>
        <p:spPr>
          <a:xfrm>
            <a:off x="472975" y="143625"/>
            <a:ext cx="8099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Internet 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42"/>
          <p:cNvSpPr txBox="1"/>
          <p:nvPr/>
        </p:nvSpPr>
        <p:spPr>
          <a:xfrm>
            <a:off x="2826150" y="4536600"/>
            <a:ext cx="352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68" name="Google Shape;2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750" y="1349988"/>
            <a:ext cx="2642849" cy="262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/>
        </p:nvSpPr>
        <p:spPr>
          <a:xfrm>
            <a:off x="472975" y="1101825"/>
            <a:ext cx="4922700" cy="3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When you open a website: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Work Sans Medium"/>
              <a:buChar char="●"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You type a website address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Work Sans Medium"/>
              <a:buChar char="●"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Your computer sends a message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Work Sans Medium"/>
              <a:buChar char="●"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Another computer sends data back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Work Sans Medium"/>
              <a:buChar char="●"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 page appears on your screen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 is constantly moving between computers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7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Opening a website = sending and receiving data</a:t>
            </a:r>
            <a:endParaRPr b="1" i="1" sz="17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4" name="Google Shape;274;p43"/>
          <p:cNvSpPr/>
          <p:nvPr/>
        </p:nvSpPr>
        <p:spPr>
          <a:xfrm>
            <a:off x="445386" y="292325"/>
            <a:ext cx="69600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3"/>
          <p:cNvSpPr/>
          <p:nvPr/>
        </p:nvSpPr>
        <p:spPr>
          <a:xfrm>
            <a:off x="364575" y="179325"/>
            <a:ext cx="68916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3"/>
          <p:cNvSpPr txBox="1"/>
          <p:nvPr/>
        </p:nvSpPr>
        <p:spPr>
          <a:xfrm>
            <a:off x="472975" y="143625"/>
            <a:ext cx="682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How Data Travels?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700" y="1378475"/>
            <a:ext cx="3443524" cy="250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/>
        </p:nvSpPr>
        <p:spPr>
          <a:xfrm>
            <a:off x="364575" y="1004725"/>
            <a:ext cx="42906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Most internet communication follows this model: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 u="sng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Client</a:t>
            </a:r>
            <a:endParaRPr b="1" sz="1600" u="sng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Your browser or app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Makes a reques</a:t>
            </a: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 u="sng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Server</a:t>
            </a:r>
            <a:endParaRPr b="1" sz="1600" u="sng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 powerful computer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Stores website or application data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Sends back a response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👉 </a:t>
            </a:r>
            <a:r>
              <a:rPr b="1" i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Client asks → Server responds</a:t>
            </a:r>
            <a:endParaRPr b="1" i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3" name="Google Shape;283;p44"/>
          <p:cNvSpPr/>
          <p:nvPr/>
        </p:nvSpPr>
        <p:spPr>
          <a:xfrm>
            <a:off x="463925" y="292325"/>
            <a:ext cx="39462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4"/>
          <p:cNvSpPr/>
          <p:nvPr/>
        </p:nvSpPr>
        <p:spPr>
          <a:xfrm>
            <a:off x="364575" y="179325"/>
            <a:ext cx="39462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4"/>
          <p:cNvSpPr txBox="1"/>
          <p:nvPr/>
        </p:nvSpPr>
        <p:spPr>
          <a:xfrm>
            <a:off x="472975" y="143625"/>
            <a:ext cx="390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Client–Server Model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6" name="Google Shape;28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275" y="1268150"/>
            <a:ext cx="2729475" cy="299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/>
        </p:nvSpPr>
        <p:spPr>
          <a:xfrm>
            <a:off x="364575" y="1013150"/>
            <a:ext cx="5692500" cy="4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Example:</a:t>
            </a:r>
            <a:b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You click “Login”</a:t>
            </a:r>
            <a:endParaRPr sz="15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Request:</a:t>
            </a:r>
            <a:b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“Check my username and password”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Server processes it</a:t>
            </a:r>
            <a:b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Response:</a:t>
            </a:r>
            <a:b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“Access granted” or “Invalid password”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 guessing, no magic</a:t>
            </a:r>
            <a:b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Just structured request and response</a:t>
            </a:r>
            <a:endParaRPr sz="15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👉 </a:t>
            </a: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Internet communication is a continuous question–answer system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92" name="Google Shape;292;p45"/>
          <p:cNvSpPr/>
          <p:nvPr/>
        </p:nvSpPr>
        <p:spPr>
          <a:xfrm>
            <a:off x="472030" y="292325"/>
            <a:ext cx="67020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5"/>
          <p:cNvSpPr/>
          <p:nvPr/>
        </p:nvSpPr>
        <p:spPr>
          <a:xfrm>
            <a:off x="364575" y="179325"/>
            <a:ext cx="66078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364575" y="179325"/>
            <a:ext cx="650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Request–Response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5" name="Google Shape;2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9250" y="1370600"/>
            <a:ext cx="2782125" cy="290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6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6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46"/>
          <p:cNvSpPr txBox="1"/>
          <p:nvPr/>
        </p:nvSpPr>
        <p:spPr>
          <a:xfrm>
            <a:off x="364575" y="1280950"/>
            <a:ext cx="752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17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 the client–server model, what does the client do?</a:t>
            </a:r>
            <a:endParaRPr b="1" sz="20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04" name="Google Shape;304;p46"/>
          <p:cNvGrpSpPr/>
          <p:nvPr/>
        </p:nvGrpSpPr>
        <p:grpSpPr>
          <a:xfrm>
            <a:off x="3072000" y="2171975"/>
            <a:ext cx="3000000" cy="1139475"/>
            <a:chOff x="3072000" y="2095775"/>
            <a:chExt cx="3000000" cy="1139475"/>
          </a:xfrm>
        </p:grpSpPr>
        <p:sp>
          <p:nvSpPr>
            <p:cNvPr id="305" name="Google Shape;305;p46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6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Stores all website data permanently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7" name="Google Shape;307;p46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46"/>
          <p:cNvGrpSpPr/>
          <p:nvPr/>
        </p:nvGrpSpPr>
        <p:grpSpPr>
          <a:xfrm>
            <a:off x="3072000" y="3620450"/>
            <a:ext cx="3000000" cy="1139475"/>
            <a:chOff x="3072000" y="3620450"/>
            <a:chExt cx="3000000" cy="1139475"/>
          </a:xfrm>
        </p:grpSpPr>
        <p:sp>
          <p:nvSpPr>
            <p:cNvPr id="309" name="Google Shape;309;p46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Sends a request to another computer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0" name="Google Shape;310;p46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6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7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7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364575" y="1280950"/>
            <a:ext cx="752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17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 the client–server model, what does the client do?</a:t>
            </a:r>
            <a:endParaRPr b="1" sz="20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0" name="Google Shape;320;p47"/>
          <p:cNvGrpSpPr/>
          <p:nvPr/>
        </p:nvGrpSpPr>
        <p:grpSpPr>
          <a:xfrm>
            <a:off x="3072000" y="2171975"/>
            <a:ext cx="3000000" cy="1139475"/>
            <a:chOff x="3072000" y="2095775"/>
            <a:chExt cx="3000000" cy="1139475"/>
          </a:xfrm>
        </p:grpSpPr>
        <p:sp>
          <p:nvSpPr>
            <p:cNvPr id="321" name="Google Shape;321;p47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7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Stores all website data permanently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3" name="Google Shape;323;p47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47"/>
          <p:cNvGrpSpPr/>
          <p:nvPr/>
        </p:nvGrpSpPr>
        <p:grpSpPr>
          <a:xfrm>
            <a:off x="3072000" y="3620450"/>
            <a:ext cx="3000000" cy="1139475"/>
            <a:chOff x="3072000" y="3620450"/>
            <a:chExt cx="3000000" cy="1139475"/>
          </a:xfrm>
        </p:grpSpPr>
        <p:sp>
          <p:nvSpPr>
            <p:cNvPr id="325" name="Google Shape;325;p47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Sends a request to another computer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6" name="Google Shape;326;p47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7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/>
        </p:nvSpPr>
        <p:spPr>
          <a:xfrm>
            <a:off x="1012500" y="1785525"/>
            <a:ext cx="71190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594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Addresses on Internet</a:t>
            </a:r>
            <a:endParaRPr b="1" i="0" sz="594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33" name="Google Shape;33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/>
        </p:nvSpPr>
        <p:spPr>
          <a:xfrm>
            <a:off x="0" y="1091925"/>
            <a:ext cx="5771700" cy="3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Every computer connected to the internet has a unique number called an </a:t>
            </a:r>
            <a:r>
              <a:rPr lang="en" u="sng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IP address</a:t>
            </a:r>
            <a:endParaRPr u="sng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Example: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192.168.1.1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Analogy: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🏠 A house address for a computer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It tells other computers: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“Where to send the data”</a:t>
            </a:r>
            <a:endParaRPr i="1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👉 </a:t>
            </a:r>
            <a:r>
              <a:rPr b="1" i="1" lang="en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IP address = exact numeric location of a server</a:t>
            </a:r>
            <a:endParaRPr b="1" i="1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536625" y="292325"/>
            <a:ext cx="67452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/>
          <p:nvPr/>
        </p:nvSpPr>
        <p:spPr>
          <a:xfrm>
            <a:off x="364575" y="179325"/>
            <a:ext cx="68337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9"/>
          <p:cNvSpPr txBox="1"/>
          <p:nvPr/>
        </p:nvSpPr>
        <p:spPr>
          <a:xfrm>
            <a:off x="492375" y="192225"/>
            <a:ext cx="683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IP Address: The Numeric Address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2" name="Google Shape;3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4100" y="1055525"/>
            <a:ext cx="3067499" cy="3175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/>
        </p:nvSpPr>
        <p:spPr>
          <a:xfrm>
            <a:off x="334700" y="982350"/>
            <a:ext cx="4934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Numbers are hard to remember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So we use domain names instead: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google.com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amazon.com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example.org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 domain name is just a readable name for an IP address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👉 </a:t>
            </a: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Domain name = easy name for humans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IP address = real address for computers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8" name="Google Shape;348;p50"/>
          <p:cNvSpPr/>
          <p:nvPr/>
        </p:nvSpPr>
        <p:spPr>
          <a:xfrm>
            <a:off x="536625" y="292325"/>
            <a:ext cx="67452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364575" y="179325"/>
            <a:ext cx="68337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 txBox="1"/>
          <p:nvPr/>
        </p:nvSpPr>
        <p:spPr>
          <a:xfrm>
            <a:off x="492375" y="192225"/>
            <a:ext cx="683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Domain Name: Human-Friendly Address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1" name="Google Shape;3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950" y="1291749"/>
            <a:ext cx="2953875" cy="283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/>
        </p:nvSpPr>
        <p:spPr>
          <a:xfrm>
            <a:off x="276900" y="999875"/>
            <a:ext cx="4882500" cy="3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DNS = Domain Name System</a:t>
            </a:r>
            <a:endParaRPr b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It works like a phonebook: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Know the name → It gives the number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You type: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google.com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DNS finds: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 correct IP address behind it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DNS translates names into numbers</a:t>
            </a:r>
            <a:endParaRPr b="1" i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57" name="Google Shape;357;p51"/>
          <p:cNvSpPr/>
          <p:nvPr/>
        </p:nvSpPr>
        <p:spPr>
          <a:xfrm>
            <a:off x="536625" y="292325"/>
            <a:ext cx="67452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1"/>
          <p:cNvSpPr/>
          <p:nvPr/>
        </p:nvSpPr>
        <p:spPr>
          <a:xfrm>
            <a:off x="364575" y="179325"/>
            <a:ext cx="68337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1"/>
          <p:cNvSpPr txBox="1"/>
          <p:nvPr/>
        </p:nvSpPr>
        <p:spPr>
          <a:xfrm>
            <a:off x="492375" y="192225"/>
            <a:ext cx="683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DNS: The Internet’s Phonebook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0" name="Google Shape;3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600" y="1237152"/>
            <a:ext cx="3128951" cy="29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/>
        </p:nvSpPr>
        <p:spPr>
          <a:xfrm>
            <a:off x="364575" y="1116725"/>
            <a:ext cx="68337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Work Sans"/>
              <a:buChar char="●"/>
            </a:pPr>
            <a:r>
              <a:rPr lang="en" sz="1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You type a domain name in the browser</a:t>
            </a:r>
            <a:endParaRPr sz="1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Work Sans"/>
              <a:buChar char="●"/>
            </a:pPr>
            <a:r>
              <a:rPr lang="en" sz="1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DNS finds the matching IP address</a:t>
            </a:r>
            <a:endParaRPr sz="1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Work Sans"/>
              <a:buChar char="●"/>
            </a:pPr>
            <a:r>
              <a:rPr lang="en" sz="1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Browser connects to that IP (server)</a:t>
            </a:r>
            <a:endParaRPr sz="1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Work Sans"/>
              <a:buChar char="●"/>
            </a:pPr>
            <a:r>
              <a:rPr lang="en" sz="19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Server sends back the website</a:t>
            </a:r>
            <a:endParaRPr sz="1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Domain → DNS → IP → Server → Website loads</a:t>
            </a:r>
            <a:endParaRPr b="1" sz="19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9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The process happens in seconds, but follows clear steps</a:t>
            </a:r>
            <a:endParaRPr b="1" i="1" sz="19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6" name="Google Shape;366;p52"/>
          <p:cNvSpPr/>
          <p:nvPr/>
        </p:nvSpPr>
        <p:spPr>
          <a:xfrm>
            <a:off x="536625" y="292325"/>
            <a:ext cx="67452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2"/>
          <p:cNvSpPr/>
          <p:nvPr/>
        </p:nvSpPr>
        <p:spPr>
          <a:xfrm>
            <a:off x="364575" y="179325"/>
            <a:ext cx="68337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2"/>
          <p:cNvSpPr txBox="1"/>
          <p:nvPr/>
        </p:nvSpPr>
        <p:spPr>
          <a:xfrm>
            <a:off x="492375" y="192225"/>
            <a:ext cx="683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Happens When You Type a Website?</a:t>
            </a:r>
            <a:endParaRPr b="1" i="0" sz="23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3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3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53"/>
          <p:cNvSpPr txBox="1"/>
          <p:nvPr/>
        </p:nvSpPr>
        <p:spPr>
          <a:xfrm>
            <a:off x="364575" y="1280950"/>
            <a:ext cx="752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2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is the main job of DNS?</a:t>
            </a:r>
            <a:endParaRPr b="1" i="0" sz="2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7" name="Google Shape;377;p53"/>
          <p:cNvGrpSpPr/>
          <p:nvPr/>
        </p:nvGrpSpPr>
        <p:grpSpPr>
          <a:xfrm>
            <a:off x="3072000" y="2171975"/>
            <a:ext cx="3000000" cy="908475"/>
            <a:chOff x="3072000" y="2095775"/>
            <a:chExt cx="3000000" cy="908475"/>
          </a:xfrm>
        </p:grpSpPr>
        <p:sp>
          <p:nvSpPr>
            <p:cNvPr id="378" name="Google Shape;378;p53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3"/>
            <p:cNvSpPr txBox="1"/>
            <p:nvPr/>
          </p:nvSpPr>
          <p:spPr>
            <a:xfrm>
              <a:off x="3072000" y="2588750"/>
              <a:ext cx="3000000" cy="41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store website content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0" name="Google Shape;380;p53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53"/>
          <p:cNvGrpSpPr/>
          <p:nvPr/>
        </p:nvGrpSpPr>
        <p:grpSpPr>
          <a:xfrm>
            <a:off x="3072000" y="3620450"/>
            <a:ext cx="3000000" cy="1139475"/>
            <a:chOff x="3072000" y="3620450"/>
            <a:chExt cx="3000000" cy="1139475"/>
          </a:xfrm>
        </p:grpSpPr>
        <p:sp>
          <p:nvSpPr>
            <p:cNvPr id="382" name="Google Shape;382;p53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translate domain names into IP addresses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3" name="Google Shape;383;p53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3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54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54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54"/>
          <p:cNvSpPr txBox="1"/>
          <p:nvPr/>
        </p:nvSpPr>
        <p:spPr>
          <a:xfrm>
            <a:off x="364575" y="1280950"/>
            <a:ext cx="752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2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is the main job of DNS?</a:t>
            </a:r>
            <a:endParaRPr b="1" i="0" sz="2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93" name="Google Shape;393;p54"/>
          <p:cNvGrpSpPr/>
          <p:nvPr/>
        </p:nvGrpSpPr>
        <p:grpSpPr>
          <a:xfrm>
            <a:off x="3072000" y="2171975"/>
            <a:ext cx="3000000" cy="908475"/>
            <a:chOff x="3072000" y="2095775"/>
            <a:chExt cx="3000000" cy="908475"/>
          </a:xfrm>
        </p:grpSpPr>
        <p:sp>
          <p:nvSpPr>
            <p:cNvPr id="394" name="Google Shape;394;p54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4"/>
            <p:cNvSpPr txBox="1"/>
            <p:nvPr/>
          </p:nvSpPr>
          <p:spPr>
            <a:xfrm>
              <a:off x="3072000" y="2588750"/>
              <a:ext cx="3000000" cy="41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store website content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6" name="Google Shape;396;p54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p54"/>
          <p:cNvGrpSpPr/>
          <p:nvPr/>
        </p:nvGrpSpPr>
        <p:grpSpPr>
          <a:xfrm>
            <a:off x="3072000" y="3620450"/>
            <a:ext cx="3000000" cy="1139475"/>
            <a:chOff x="3072000" y="3620450"/>
            <a:chExt cx="3000000" cy="1139475"/>
          </a:xfrm>
        </p:grpSpPr>
        <p:sp>
          <p:nvSpPr>
            <p:cNvPr id="398" name="Google Shape;398;p54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translate domain names into IP addresses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99" name="Google Shape;399;p54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4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5"/>
          <p:cNvSpPr txBox="1"/>
          <p:nvPr/>
        </p:nvSpPr>
        <p:spPr>
          <a:xfrm>
            <a:off x="1012513" y="1903800"/>
            <a:ext cx="7119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624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HTTP vs HTTPS</a:t>
            </a:r>
            <a:endParaRPr b="1" i="1" sz="484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06" name="Google Shape;40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6"/>
          <p:cNvSpPr txBox="1"/>
          <p:nvPr/>
        </p:nvSpPr>
        <p:spPr>
          <a:xfrm>
            <a:off x="446300" y="1058400"/>
            <a:ext cx="53274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HTTP = HyperText Transfer Protocol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It is the basic method used by browsers and servers to communicate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When you: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Open a website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Submit a form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Click a link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Your browser sends an HTTP request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 server sends an HTTP response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HTTP = Rulebook for sending and receiving web data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12" name="Google Shape;412;p56"/>
          <p:cNvSpPr/>
          <p:nvPr/>
        </p:nvSpPr>
        <p:spPr>
          <a:xfrm>
            <a:off x="518238" y="292325"/>
            <a:ext cx="60246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6"/>
          <p:cNvSpPr/>
          <p:nvPr/>
        </p:nvSpPr>
        <p:spPr>
          <a:xfrm>
            <a:off x="364575" y="179325"/>
            <a:ext cx="61035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6"/>
          <p:cNvSpPr txBox="1"/>
          <p:nvPr/>
        </p:nvSpPr>
        <p:spPr>
          <a:xfrm>
            <a:off x="492375" y="192225"/>
            <a:ext cx="601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HTTP?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5" name="Google Shape;41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7920" y="1701350"/>
            <a:ext cx="3089926" cy="215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7"/>
          <p:cNvSpPr txBox="1"/>
          <p:nvPr/>
        </p:nvSpPr>
        <p:spPr>
          <a:xfrm>
            <a:off x="364575" y="1091900"/>
            <a:ext cx="5164800" cy="4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HTTPS = Secure HTTP</a:t>
            </a:r>
            <a:endParaRPr b="1" sz="17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It is HTTP with: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🔒 Encryption (data is scrambled)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✅ Trust (you are connected to the real server)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This means: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Even if someone intercepts the data, they cannot read it easily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1" lang="en" sz="17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HTTPS protects sensitive information</a:t>
            </a:r>
            <a:endParaRPr b="1" i="1" sz="17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1" name="Google Shape;421;p57"/>
          <p:cNvSpPr/>
          <p:nvPr/>
        </p:nvSpPr>
        <p:spPr>
          <a:xfrm>
            <a:off x="518238" y="292325"/>
            <a:ext cx="60246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7"/>
          <p:cNvSpPr/>
          <p:nvPr/>
        </p:nvSpPr>
        <p:spPr>
          <a:xfrm>
            <a:off x="364575" y="179325"/>
            <a:ext cx="61035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7"/>
          <p:cNvSpPr txBox="1"/>
          <p:nvPr/>
        </p:nvSpPr>
        <p:spPr>
          <a:xfrm>
            <a:off x="492375" y="192225"/>
            <a:ext cx="601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HTTPS?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4" name="Google Shape;4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775" y="1055525"/>
            <a:ext cx="3309826" cy="3063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8"/>
          <p:cNvSpPr txBox="1"/>
          <p:nvPr/>
        </p:nvSpPr>
        <p:spPr>
          <a:xfrm>
            <a:off x="552425" y="1168300"/>
            <a:ext cx="4662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If a website involves: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Login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Passwords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Payments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Personal information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It must use HTTPS</a:t>
            </a:r>
            <a:endParaRPr b="1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Today, most modern websites use HTTPS by default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HTTP = Communication</a:t>
            </a:r>
            <a:endParaRPr b="1" i="1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i="1" lang="en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HTTPS = Secure communication</a:t>
            </a:r>
            <a:endParaRPr b="1" i="1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30" name="Google Shape;430;p58"/>
          <p:cNvSpPr/>
          <p:nvPr/>
        </p:nvSpPr>
        <p:spPr>
          <a:xfrm>
            <a:off x="518238" y="292325"/>
            <a:ext cx="60246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8"/>
          <p:cNvSpPr/>
          <p:nvPr/>
        </p:nvSpPr>
        <p:spPr>
          <a:xfrm>
            <a:off x="364575" y="179325"/>
            <a:ext cx="61035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8"/>
          <p:cNvSpPr txBox="1"/>
          <p:nvPr/>
        </p:nvSpPr>
        <p:spPr>
          <a:xfrm>
            <a:off x="492375" y="192225"/>
            <a:ext cx="6010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When to use HTTP Vs HTTPS?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3" name="Google Shape;43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6325" y="1835224"/>
            <a:ext cx="4268300" cy="17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9"/>
          <p:cNvSpPr txBox="1"/>
          <p:nvPr/>
        </p:nvSpPr>
        <p:spPr>
          <a:xfrm>
            <a:off x="364575" y="1280950"/>
            <a:ext cx="86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When should HTTPS be used?</a:t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439" name="Google Shape;439;p59"/>
          <p:cNvGrpSpPr/>
          <p:nvPr/>
        </p:nvGrpSpPr>
        <p:grpSpPr>
          <a:xfrm>
            <a:off x="3072000" y="1821100"/>
            <a:ext cx="3000000" cy="1139475"/>
            <a:chOff x="3072000" y="2095775"/>
            <a:chExt cx="3000000" cy="1139475"/>
          </a:xfrm>
        </p:grpSpPr>
        <p:sp>
          <p:nvSpPr>
            <p:cNvPr id="440" name="Google Shape;440;p59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9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Only for entertainment websites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2" name="Google Shape;442;p59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59"/>
          <p:cNvGrpSpPr/>
          <p:nvPr/>
        </p:nvGrpSpPr>
        <p:grpSpPr>
          <a:xfrm>
            <a:off x="3072000" y="3224800"/>
            <a:ext cx="3000000" cy="1370175"/>
            <a:chOff x="3072000" y="3620450"/>
            <a:chExt cx="3000000" cy="1370175"/>
          </a:xfrm>
        </p:grpSpPr>
        <p:sp>
          <p:nvSpPr>
            <p:cNvPr id="444" name="Google Shape;444;p59"/>
            <p:cNvSpPr txBox="1"/>
            <p:nvPr/>
          </p:nvSpPr>
          <p:spPr>
            <a:xfrm>
              <a:off x="3072000" y="4113425"/>
              <a:ext cx="3000000" cy="877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Whenever sensitive data like passwords or payments are involved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45" name="Google Shape;445;p59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9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7" name="Google Shape;447;p59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9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9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/>
          <p:nvPr/>
        </p:nvSpPr>
        <p:spPr>
          <a:xfrm>
            <a:off x="364575" y="1280950"/>
            <a:ext cx="867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When should HTTPS be used?</a:t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455" name="Google Shape;455;p60"/>
          <p:cNvGrpSpPr/>
          <p:nvPr/>
        </p:nvGrpSpPr>
        <p:grpSpPr>
          <a:xfrm>
            <a:off x="3072000" y="1821100"/>
            <a:ext cx="3000000" cy="1139475"/>
            <a:chOff x="3072000" y="2095775"/>
            <a:chExt cx="3000000" cy="1139475"/>
          </a:xfrm>
        </p:grpSpPr>
        <p:sp>
          <p:nvSpPr>
            <p:cNvPr id="456" name="Google Shape;456;p60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60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Only for entertainment websites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58" name="Google Shape;458;p60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60"/>
          <p:cNvGrpSpPr/>
          <p:nvPr/>
        </p:nvGrpSpPr>
        <p:grpSpPr>
          <a:xfrm>
            <a:off x="3072000" y="3224800"/>
            <a:ext cx="3000000" cy="1370175"/>
            <a:chOff x="3072000" y="3620450"/>
            <a:chExt cx="3000000" cy="1370175"/>
          </a:xfrm>
        </p:grpSpPr>
        <p:sp>
          <p:nvSpPr>
            <p:cNvPr id="460" name="Google Shape;460;p60"/>
            <p:cNvSpPr txBox="1"/>
            <p:nvPr/>
          </p:nvSpPr>
          <p:spPr>
            <a:xfrm>
              <a:off x="3072000" y="4113425"/>
              <a:ext cx="3000000" cy="8772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Whenever sensitive data like passwords or payments are involved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61" name="Google Shape;461;p60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60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" name="Google Shape;463;p60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0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0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1"/>
          <p:cNvSpPr txBox="1"/>
          <p:nvPr/>
        </p:nvSpPr>
        <p:spPr>
          <a:xfrm>
            <a:off x="1012500" y="2031875"/>
            <a:ext cx="71190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654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Web Browser</a:t>
            </a:r>
            <a:endParaRPr b="1" i="0" sz="654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471" name="Google Shape;47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2"/>
          <p:cNvSpPr txBox="1"/>
          <p:nvPr/>
        </p:nvSpPr>
        <p:spPr>
          <a:xfrm>
            <a:off x="68125" y="1038575"/>
            <a:ext cx="6304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 software tool that requests and displays web pages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Examples: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Chrome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Edge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Firefox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When you open a website, the browser: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Connects to a server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Retrieves website data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Shows it in a readable format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Browser = Gateway between you and the internet</a:t>
            </a:r>
            <a:endParaRPr b="1" i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77" name="Google Shape;477;p62"/>
          <p:cNvSpPr/>
          <p:nvPr/>
        </p:nvSpPr>
        <p:spPr>
          <a:xfrm>
            <a:off x="539065" y="292325"/>
            <a:ext cx="68412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2"/>
          <p:cNvSpPr/>
          <p:nvPr/>
        </p:nvSpPr>
        <p:spPr>
          <a:xfrm>
            <a:off x="364575" y="179325"/>
            <a:ext cx="69309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2"/>
          <p:cNvSpPr txBox="1"/>
          <p:nvPr/>
        </p:nvSpPr>
        <p:spPr>
          <a:xfrm>
            <a:off x="492375" y="192225"/>
            <a:ext cx="669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a Web Browser ?</a:t>
            </a:r>
            <a:endParaRPr b="1" i="0" sz="2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0" name="Google Shape;4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9425" y="1496600"/>
            <a:ext cx="3022775" cy="22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364575" y="1131300"/>
            <a:ext cx="53775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Step 1: Makes a Request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You type a website → Browser sends a request to a server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Step 2: Receives a Response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Server sends back website data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Step 3: Displays the Page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Browser converts that data into text, images, buttons, etc.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Request → Response → Display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6" name="Google Shape;486;p63"/>
          <p:cNvSpPr/>
          <p:nvPr/>
        </p:nvSpPr>
        <p:spPr>
          <a:xfrm>
            <a:off x="528772" y="292325"/>
            <a:ext cx="643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3"/>
          <p:cNvSpPr/>
          <p:nvPr/>
        </p:nvSpPr>
        <p:spPr>
          <a:xfrm>
            <a:off x="364575" y="179325"/>
            <a:ext cx="65220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3"/>
          <p:cNvSpPr txBox="1"/>
          <p:nvPr/>
        </p:nvSpPr>
        <p:spPr>
          <a:xfrm>
            <a:off x="492375" y="192225"/>
            <a:ext cx="65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Does a Browser Do ?</a:t>
            </a:r>
            <a:endParaRPr b="1" i="0" sz="2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9" name="Google Shape;48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050" y="1331176"/>
            <a:ext cx="2524000" cy="28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 txBox="1"/>
          <p:nvPr/>
        </p:nvSpPr>
        <p:spPr>
          <a:xfrm>
            <a:off x="364575" y="1060400"/>
            <a:ext cx="51333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Web pages are built </a:t>
            </a: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using</a:t>
            </a: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: 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HTML → Structure (the skeleton of the page)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CSS → Styling (colors, layout, design)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JavaScript → Interaction (clicks, animations, dynamic updates)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 browser creates something called the DOM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The page’s structure that JavaScript can work with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Together, these create interactive web experiences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495" name="Google Shape;495;p64"/>
          <p:cNvSpPr/>
          <p:nvPr/>
        </p:nvSpPr>
        <p:spPr>
          <a:xfrm>
            <a:off x="528772" y="292325"/>
            <a:ext cx="643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4"/>
          <p:cNvSpPr/>
          <p:nvPr/>
        </p:nvSpPr>
        <p:spPr>
          <a:xfrm>
            <a:off x="364575" y="179325"/>
            <a:ext cx="65220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4"/>
          <p:cNvSpPr txBox="1"/>
          <p:nvPr/>
        </p:nvSpPr>
        <p:spPr>
          <a:xfrm>
            <a:off x="492375" y="192225"/>
            <a:ext cx="655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How Web Pages Are Built 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8" name="Google Shape;49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225" y="1326725"/>
            <a:ext cx="2848775" cy="277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5"/>
          <p:cNvSpPr txBox="1"/>
          <p:nvPr/>
        </p:nvSpPr>
        <p:spPr>
          <a:xfrm>
            <a:off x="364575" y="1280950"/>
            <a:ext cx="75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is the primary role of a web browser?</a:t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504" name="Google Shape;504;p65"/>
          <p:cNvGrpSpPr/>
          <p:nvPr/>
        </p:nvGrpSpPr>
        <p:grpSpPr>
          <a:xfrm>
            <a:off x="3072000" y="2171975"/>
            <a:ext cx="3000000" cy="1139475"/>
            <a:chOff x="3072000" y="2095775"/>
            <a:chExt cx="3000000" cy="1139475"/>
          </a:xfrm>
        </p:grpSpPr>
        <p:sp>
          <p:nvSpPr>
            <p:cNvPr id="505" name="Google Shape;505;p65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65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store all website data permanently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07" name="Google Shape;507;p65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65"/>
          <p:cNvGrpSpPr/>
          <p:nvPr/>
        </p:nvGrpSpPr>
        <p:grpSpPr>
          <a:xfrm>
            <a:off x="3072000" y="3620450"/>
            <a:ext cx="3000000" cy="1139475"/>
            <a:chOff x="3072000" y="3620450"/>
            <a:chExt cx="3000000" cy="1139475"/>
          </a:xfrm>
        </p:grpSpPr>
        <p:sp>
          <p:nvSpPr>
            <p:cNvPr id="509" name="Google Shape;509;p65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request web pages and display them to users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10" name="Google Shape;510;p65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65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2" name="Google Shape;512;p65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5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5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6"/>
          <p:cNvSpPr txBox="1"/>
          <p:nvPr/>
        </p:nvSpPr>
        <p:spPr>
          <a:xfrm>
            <a:off x="364575" y="1280950"/>
            <a:ext cx="752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is the primary role of a web browser?</a:t>
            </a:r>
            <a:endParaRPr b="1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520" name="Google Shape;520;p66"/>
          <p:cNvGrpSpPr/>
          <p:nvPr/>
        </p:nvGrpSpPr>
        <p:grpSpPr>
          <a:xfrm>
            <a:off x="3072000" y="2171975"/>
            <a:ext cx="3000000" cy="1139475"/>
            <a:chOff x="3072000" y="2095775"/>
            <a:chExt cx="3000000" cy="1139475"/>
          </a:xfrm>
        </p:grpSpPr>
        <p:sp>
          <p:nvSpPr>
            <p:cNvPr id="521" name="Google Shape;521;p66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66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store all website data permanently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3" name="Google Shape;523;p66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66"/>
          <p:cNvGrpSpPr/>
          <p:nvPr/>
        </p:nvGrpSpPr>
        <p:grpSpPr>
          <a:xfrm>
            <a:off x="3072000" y="3620450"/>
            <a:ext cx="3000000" cy="1139475"/>
            <a:chOff x="3072000" y="3620450"/>
            <a:chExt cx="3000000" cy="1139475"/>
          </a:xfrm>
        </p:grpSpPr>
        <p:sp>
          <p:nvSpPr>
            <p:cNvPr id="525" name="Google Shape;525;p66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To request web pages and display them to users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26" name="Google Shape;526;p66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66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8" name="Google Shape;528;p66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6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6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5" name="Google Shape;535;p67"/>
          <p:cNvCxnSpPr/>
          <p:nvPr/>
        </p:nvCxnSpPr>
        <p:spPr>
          <a:xfrm>
            <a:off x="3332925" y="2663025"/>
            <a:ext cx="0" cy="1093800"/>
          </a:xfrm>
          <a:prstGeom prst="straightConnector1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67"/>
          <p:cNvSpPr txBox="1"/>
          <p:nvPr/>
        </p:nvSpPr>
        <p:spPr>
          <a:xfrm>
            <a:off x="1012500" y="1546650"/>
            <a:ext cx="7119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i="0" lang="en" sz="404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Take A </a:t>
            </a:r>
            <a:r>
              <a:rPr b="1" lang="en" sz="404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5</a:t>
            </a:r>
            <a:r>
              <a:rPr b="1" i="0" lang="en" sz="404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-Minute </a:t>
            </a:r>
            <a:r>
              <a:rPr b="1" i="0" lang="en" sz="4040" u="none" cap="none" strike="noStrike">
                <a:solidFill>
                  <a:srgbClr val="FFFF00"/>
                </a:solidFill>
                <a:latin typeface="Work Sans"/>
                <a:ea typeface="Work Sans"/>
                <a:cs typeface="Work Sans"/>
                <a:sym typeface="Work Sans"/>
              </a:rPr>
              <a:t>Break!</a:t>
            </a:r>
            <a:endParaRPr b="1" i="0" sz="4040" u="none" cap="none" strike="noStrike">
              <a:solidFill>
                <a:srgbClr val="FFFF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37" name="Google Shape;53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67"/>
          <p:cNvSpPr txBox="1"/>
          <p:nvPr/>
        </p:nvSpPr>
        <p:spPr>
          <a:xfrm>
            <a:off x="3072027" y="2463375"/>
            <a:ext cx="3470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Stretch and relax</a:t>
            </a:r>
            <a:endParaRPr b="0" i="0" sz="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Hydrate</a:t>
            </a:r>
            <a:endParaRPr b="0" i="0" sz="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Clear your mind</a:t>
            </a:r>
            <a:endParaRPr b="0" i="0" sz="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"/>
              <a:buChar char="●"/>
            </a:pPr>
            <a:r>
              <a:rPr b="0" i="0" lang="en" sz="15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Be back in </a:t>
            </a:r>
            <a:r>
              <a:rPr lang="en" sz="1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5</a:t>
            </a:r>
            <a:r>
              <a:rPr b="0" i="0" lang="en" sz="15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minutes</a:t>
            </a:r>
            <a:endParaRPr b="0" i="0" sz="1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8"/>
          <p:cNvSpPr txBox="1"/>
          <p:nvPr/>
        </p:nvSpPr>
        <p:spPr>
          <a:xfrm>
            <a:off x="1012500" y="1778075"/>
            <a:ext cx="71190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544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Full Stack Development</a:t>
            </a:r>
            <a:endParaRPr b="1" i="0" sz="544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44" name="Google Shape;54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9"/>
          <p:cNvSpPr txBox="1"/>
          <p:nvPr/>
        </p:nvSpPr>
        <p:spPr>
          <a:xfrm>
            <a:off x="364575" y="1102700"/>
            <a:ext cx="5314500" cy="3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Full-Stack Development means building both parts of an application: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Frontend</a:t>
            </a:r>
            <a:endParaRPr b="1" sz="1600" u="sng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What users see and interact with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Backend</a:t>
            </a:r>
            <a:endParaRPr b="1" sz="1600" u="sng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 logic, data, and processing happening behind the scenes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👉 </a:t>
            </a:r>
            <a:r>
              <a:rPr b="1" i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A full-stack developer understands the complete flow of an application</a:t>
            </a:r>
            <a:endParaRPr b="1" i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0" name="Google Shape;550;p69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69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69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Full-Stack Development?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3" name="Google Shape;55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475" y="1370600"/>
            <a:ext cx="3160124" cy="2714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0"/>
          <p:cNvSpPr txBox="1"/>
          <p:nvPr/>
        </p:nvSpPr>
        <p:spPr>
          <a:xfrm>
            <a:off x="364575" y="1060400"/>
            <a:ext cx="56847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Frontend is responsible for: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UI screens (buttons, forms, layouts)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User interactions (clicks, typing)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 validations (checking empty fields)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Displaying messages and results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It focuses on: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How the application looks and feels</a:t>
            </a:r>
            <a:endParaRPr b="1" i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Users directly interact with the frontend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0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0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Frontend - USER Side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2" name="Google Shape;56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675" y="1055525"/>
            <a:ext cx="2789926" cy="2904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1"/>
          <p:cNvSpPr txBox="1"/>
          <p:nvPr/>
        </p:nvSpPr>
        <p:spPr>
          <a:xfrm>
            <a:off x="364575" y="1107675"/>
            <a:ext cx="5180700" cy="3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Backend handles: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Authentication (checking login details)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 storage (saving information in database)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APIs (sending/receiving data)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302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 Medium"/>
              <a:buChar char="●"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Business rules (application logic)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It focuses on: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How the application works internally</a:t>
            </a:r>
            <a:endParaRPr b="1" i="1" sz="16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Users don’t see backend, but everything depends on it</a:t>
            </a:r>
            <a:endParaRPr sz="16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568" name="Google Shape;568;p71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1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71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Backend - SERVER Side</a:t>
            </a:r>
            <a:endParaRPr b="1" sz="2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1" name="Google Shape;5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750" y="1559601"/>
            <a:ext cx="2945349" cy="26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2"/>
          <p:cNvSpPr txBox="1"/>
          <p:nvPr/>
        </p:nvSpPr>
        <p:spPr>
          <a:xfrm>
            <a:off x="364575" y="1027125"/>
            <a:ext cx="6527700" cy="3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User e</a:t>
            </a: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nters username &amp; password (Frontend)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Frontend sends data to backend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Backend verifies credentials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Database checks stored data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Backend sends response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Frontend shows: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“Login successful”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OR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“Inval</a:t>
            </a: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id password”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Full-stack = Understanding this complete journey</a:t>
            </a:r>
            <a:endParaRPr b="1" i="1" sz="18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77" name="Google Shape;577;p72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72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72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Example - Login Page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80" name="Google Shape;5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450" y="1458275"/>
            <a:ext cx="2762149" cy="282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3"/>
          <p:cNvSpPr txBox="1"/>
          <p:nvPr/>
        </p:nvSpPr>
        <p:spPr>
          <a:xfrm>
            <a:off x="364575" y="1280950"/>
            <a:ext cx="7527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17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does a full-stack developer work on?</a:t>
            </a:r>
            <a:endParaRPr b="1" i="0" sz="17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586" name="Google Shape;586;p73"/>
          <p:cNvGrpSpPr/>
          <p:nvPr/>
        </p:nvGrpSpPr>
        <p:grpSpPr>
          <a:xfrm>
            <a:off x="3072000" y="1925625"/>
            <a:ext cx="3000000" cy="908475"/>
            <a:chOff x="3072000" y="2095775"/>
            <a:chExt cx="3000000" cy="908475"/>
          </a:xfrm>
        </p:grpSpPr>
        <p:sp>
          <p:nvSpPr>
            <p:cNvPr id="587" name="Google Shape;587;p73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73"/>
            <p:cNvSpPr txBox="1"/>
            <p:nvPr/>
          </p:nvSpPr>
          <p:spPr>
            <a:xfrm>
              <a:off x="3072000" y="2588750"/>
              <a:ext cx="3000000" cy="41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Only designing screens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89" name="Google Shape;589;p73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p73"/>
          <p:cNvGrpSpPr/>
          <p:nvPr/>
        </p:nvGrpSpPr>
        <p:grpSpPr>
          <a:xfrm>
            <a:off x="3072000" y="3359175"/>
            <a:ext cx="3000000" cy="1139475"/>
            <a:chOff x="3072000" y="3620450"/>
            <a:chExt cx="3000000" cy="1139475"/>
          </a:xfrm>
        </p:grpSpPr>
        <p:sp>
          <p:nvSpPr>
            <p:cNvPr id="591" name="Google Shape;591;p73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Both user interface and backend logic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2" name="Google Shape;592;p73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73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73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73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73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/>
          <p:nvPr/>
        </p:nvSpPr>
        <p:spPr>
          <a:xfrm>
            <a:off x="364575" y="1280950"/>
            <a:ext cx="7527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17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does a full-stack developer work on?</a:t>
            </a:r>
            <a:endParaRPr b="1" i="0" sz="17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602" name="Google Shape;602;p74"/>
          <p:cNvGrpSpPr/>
          <p:nvPr/>
        </p:nvGrpSpPr>
        <p:grpSpPr>
          <a:xfrm>
            <a:off x="3072000" y="1925625"/>
            <a:ext cx="3000000" cy="908475"/>
            <a:chOff x="3072000" y="2095775"/>
            <a:chExt cx="3000000" cy="908475"/>
          </a:xfrm>
        </p:grpSpPr>
        <p:sp>
          <p:nvSpPr>
            <p:cNvPr id="603" name="Google Shape;603;p74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74"/>
            <p:cNvSpPr txBox="1"/>
            <p:nvPr/>
          </p:nvSpPr>
          <p:spPr>
            <a:xfrm>
              <a:off x="3072000" y="2588750"/>
              <a:ext cx="3000000" cy="41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Only designing screens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5" name="Google Shape;605;p74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6" name="Google Shape;606;p74"/>
          <p:cNvGrpSpPr/>
          <p:nvPr/>
        </p:nvGrpSpPr>
        <p:grpSpPr>
          <a:xfrm>
            <a:off x="3072000" y="3359175"/>
            <a:ext cx="3000000" cy="1139475"/>
            <a:chOff x="3072000" y="3620450"/>
            <a:chExt cx="3000000" cy="1139475"/>
          </a:xfrm>
        </p:grpSpPr>
        <p:sp>
          <p:nvSpPr>
            <p:cNvPr id="607" name="Google Shape;607;p74"/>
            <p:cNvSpPr txBox="1"/>
            <p:nvPr/>
          </p:nvSpPr>
          <p:spPr>
            <a:xfrm>
              <a:off x="3072000" y="4113425"/>
              <a:ext cx="3000000" cy="6465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Both user interface and backend logic</a:t>
              </a:r>
              <a:endParaRPr b="1" i="0" sz="1500" u="none" cap="none" strike="noStrike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08" name="Google Shape;608;p74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74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0" name="Google Shape;610;p74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74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74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5"/>
          <p:cNvSpPr txBox="1"/>
          <p:nvPr/>
        </p:nvSpPr>
        <p:spPr>
          <a:xfrm>
            <a:off x="1012513" y="1688500"/>
            <a:ext cx="71190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494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 Sneak Peek to Cloud Computing </a:t>
            </a:r>
            <a:endParaRPr b="1" i="0" sz="494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18" name="Google Shape;61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6"/>
          <p:cNvSpPr txBox="1"/>
          <p:nvPr/>
        </p:nvSpPr>
        <p:spPr>
          <a:xfrm>
            <a:off x="364575" y="1115225"/>
            <a:ext cx="62361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👉 </a:t>
            </a: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Renting computing resources over the internet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Instead of buying physical servers, companies rent: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Storage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Computing power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Databases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Software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You use it when needed and pay for what you use</a:t>
            </a:r>
            <a:endParaRPr b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Think of it like: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Electricity </a:t>
            </a: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—</a:t>
            </a: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you don’t build a power plant, you just use power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24" name="Google Shape;624;p76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76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6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Cloud Computing?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7" name="Google Shape;62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825" y="1252450"/>
            <a:ext cx="2972899" cy="252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7"/>
          <p:cNvSpPr txBox="1"/>
          <p:nvPr/>
        </p:nvSpPr>
        <p:spPr>
          <a:xfrm>
            <a:off x="364575" y="979650"/>
            <a:ext cx="46293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Cloud is popular because it is: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Scalable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Increase or decrease resources easily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Accessible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Access from anywhere via internet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Cost-Efficient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No need to buy expensive hardware upfront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This is especially useful for: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Startups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Growing applications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Online products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33" name="Google Shape;633;p77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7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77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Why is Cloud Used?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6" name="Google Shape;6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525" y="1669900"/>
            <a:ext cx="3845324" cy="211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8"/>
          <p:cNvSpPr txBox="1"/>
          <p:nvPr/>
        </p:nvSpPr>
        <p:spPr>
          <a:xfrm>
            <a:off x="364575" y="973425"/>
            <a:ext cx="7981200" cy="4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IaaS — Infrastructure as a Service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Rent virtual machines (computers)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PaaS — Platform as a Service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Rent a ready environment to build and deploy apps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Work Sans Medium"/>
              <a:buChar char="●"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SaaS — Software as a Service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Use software directly via internet (no installation)</a:t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500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More convenience → Less control</a:t>
            </a:r>
            <a:endParaRPr b="1" i="1" sz="1500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2" name="Google Shape;642;p78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8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78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Types of Cloud Services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5" name="Google Shape;6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220" y="1327550"/>
            <a:ext cx="2866425" cy="282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9"/>
          <p:cNvSpPr txBox="1"/>
          <p:nvPr/>
        </p:nvSpPr>
        <p:spPr>
          <a:xfrm>
            <a:off x="364575" y="1044325"/>
            <a:ext cx="55587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Some major cloud providers: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AWS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Microsoft Azure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Google Cloud (GCP)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They provide: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Servers, storage, databases, and tools online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51" name="Google Shape;651;p79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9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79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Cloud Providers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4" name="Google Shape;65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390" y="1001250"/>
            <a:ext cx="1523484" cy="107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7874" y="2118850"/>
            <a:ext cx="1301225" cy="135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9474" y="3600698"/>
            <a:ext cx="1301225" cy="107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0"/>
          <p:cNvSpPr txBox="1"/>
          <p:nvPr/>
        </p:nvSpPr>
        <p:spPr>
          <a:xfrm>
            <a:off x="364575" y="1280950"/>
            <a:ext cx="752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1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does cloud computing mainly mean?</a:t>
            </a:r>
            <a:endParaRPr b="1" i="0" sz="1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662" name="Google Shape;662;p80"/>
          <p:cNvGrpSpPr/>
          <p:nvPr/>
        </p:nvGrpSpPr>
        <p:grpSpPr>
          <a:xfrm>
            <a:off x="3072000" y="1771163"/>
            <a:ext cx="3000000" cy="1139475"/>
            <a:chOff x="3072000" y="2095775"/>
            <a:chExt cx="3000000" cy="1139475"/>
          </a:xfrm>
        </p:grpSpPr>
        <p:sp>
          <p:nvSpPr>
            <p:cNvPr id="663" name="Google Shape;663;p80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80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Buying and maintaining your own physical servers</a:t>
              </a:r>
              <a:endParaRPr b="1" sz="1500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5" name="Google Shape;665;p80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80"/>
          <p:cNvGrpSpPr/>
          <p:nvPr/>
        </p:nvGrpSpPr>
        <p:grpSpPr>
          <a:xfrm>
            <a:off x="3124275" y="3118975"/>
            <a:ext cx="3000000" cy="1204200"/>
            <a:chOff x="3139200" y="3620450"/>
            <a:chExt cx="3000000" cy="1204200"/>
          </a:xfrm>
        </p:grpSpPr>
        <p:sp>
          <p:nvSpPr>
            <p:cNvPr id="667" name="Google Shape;667;p80"/>
            <p:cNvSpPr txBox="1"/>
            <p:nvPr/>
          </p:nvSpPr>
          <p:spPr>
            <a:xfrm>
              <a:off x="3139200" y="4143650"/>
              <a:ext cx="3000000" cy="681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Renting computing resources over the internet</a:t>
              </a:r>
              <a:endParaRPr b="1" sz="1500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68" name="Google Shape;668;p80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80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0" name="Google Shape;670;p80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0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0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1"/>
          <p:cNvSpPr txBox="1"/>
          <p:nvPr/>
        </p:nvSpPr>
        <p:spPr>
          <a:xfrm>
            <a:off x="364575" y="1280950"/>
            <a:ext cx="752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Q. </a:t>
            </a:r>
            <a:r>
              <a:rPr b="1" lang="en" sz="1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What does cloud computing mainly mean?</a:t>
            </a:r>
            <a:endParaRPr b="1" i="0" sz="1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678" name="Google Shape;678;p81"/>
          <p:cNvGrpSpPr/>
          <p:nvPr/>
        </p:nvGrpSpPr>
        <p:grpSpPr>
          <a:xfrm>
            <a:off x="3072000" y="1771163"/>
            <a:ext cx="3000000" cy="1139475"/>
            <a:chOff x="3072000" y="2095775"/>
            <a:chExt cx="3000000" cy="1139475"/>
          </a:xfrm>
        </p:grpSpPr>
        <p:sp>
          <p:nvSpPr>
            <p:cNvPr id="679" name="Google Shape;679;p81"/>
            <p:cNvSpPr/>
            <p:nvPr/>
          </p:nvSpPr>
          <p:spPr>
            <a:xfrm>
              <a:off x="4371900" y="2157275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1"/>
            <p:cNvSpPr txBox="1"/>
            <p:nvPr/>
          </p:nvSpPr>
          <p:spPr>
            <a:xfrm>
              <a:off x="3072000" y="2588750"/>
              <a:ext cx="3000000" cy="64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Buying and maintaining your own physical servers</a:t>
              </a:r>
              <a:endParaRPr b="1" sz="1500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1" name="Google Shape;681;p81"/>
            <p:cNvSpPr txBox="1"/>
            <p:nvPr/>
          </p:nvSpPr>
          <p:spPr>
            <a:xfrm>
              <a:off x="4308000" y="2095775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p81"/>
          <p:cNvGrpSpPr/>
          <p:nvPr/>
        </p:nvGrpSpPr>
        <p:grpSpPr>
          <a:xfrm>
            <a:off x="3124275" y="3118975"/>
            <a:ext cx="3000000" cy="1204200"/>
            <a:chOff x="3139200" y="3620450"/>
            <a:chExt cx="3000000" cy="1204200"/>
          </a:xfrm>
        </p:grpSpPr>
        <p:sp>
          <p:nvSpPr>
            <p:cNvPr id="683" name="Google Shape;683;p81"/>
            <p:cNvSpPr txBox="1"/>
            <p:nvPr/>
          </p:nvSpPr>
          <p:spPr>
            <a:xfrm>
              <a:off x="3139200" y="4143650"/>
              <a:ext cx="3000000" cy="681000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rgbClr val="2C2CC5"/>
                  </a:solidFill>
                  <a:latin typeface="Work Sans"/>
                  <a:ea typeface="Work Sans"/>
                  <a:cs typeface="Work Sans"/>
                  <a:sym typeface="Work Sans"/>
                </a:rPr>
                <a:t>Renting computing resources over the internet</a:t>
              </a:r>
              <a:endParaRPr b="1" sz="1500">
                <a:solidFill>
                  <a:srgbClr val="2C2CC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684" name="Google Shape;684;p81"/>
            <p:cNvSpPr/>
            <p:nvPr/>
          </p:nvSpPr>
          <p:spPr>
            <a:xfrm>
              <a:off x="4371900" y="3681950"/>
              <a:ext cx="400200" cy="400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006E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81"/>
            <p:cNvSpPr txBox="1"/>
            <p:nvPr/>
          </p:nvSpPr>
          <p:spPr>
            <a:xfrm>
              <a:off x="4308000" y="3620450"/>
              <a:ext cx="528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" sz="2200" u="none" cap="none" strike="noStrike">
                  <a:solidFill>
                    <a:srgbClr val="2C2CC5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i="0" sz="2200" u="none" cap="none" strike="noStrike">
                <a:solidFill>
                  <a:srgbClr val="2C2CC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81"/>
          <p:cNvSpPr/>
          <p:nvPr/>
        </p:nvSpPr>
        <p:spPr>
          <a:xfrm>
            <a:off x="419250" y="292325"/>
            <a:ext cx="22215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1"/>
          <p:cNvSpPr/>
          <p:nvPr/>
        </p:nvSpPr>
        <p:spPr>
          <a:xfrm>
            <a:off x="364575" y="179325"/>
            <a:ext cx="2172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81"/>
          <p:cNvSpPr txBox="1"/>
          <p:nvPr/>
        </p:nvSpPr>
        <p:spPr>
          <a:xfrm>
            <a:off x="472975" y="143625"/>
            <a:ext cx="211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 Quiz</a:t>
            </a:r>
            <a:endParaRPr b="1" i="0" sz="3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2"/>
          <p:cNvSpPr txBox="1"/>
          <p:nvPr/>
        </p:nvSpPr>
        <p:spPr>
          <a:xfrm>
            <a:off x="1012500" y="1765200"/>
            <a:ext cx="711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0"/>
              <a:buFont typeface="Arial"/>
              <a:buNone/>
            </a:pPr>
            <a:r>
              <a:rPr b="1" lang="en"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VS Code Setup</a:t>
            </a:r>
            <a:endParaRPr b="1" i="0" sz="6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94" name="Google Shape;69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9713" y="360275"/>
            <a:ext cx="1624576" cy="4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3"/>
          <p:cNvSpPr txBox="1"/>
          <p:nvPr/>
        </p:nvSpPr>
        <p:spPr>
          <a:xfrm>
            <a:off x="364575" y="1071925"/>
            <a:ext cx="5873700" cy="27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Tool used to write and edit programming code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It helps developers: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Write code clearly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Organize files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Spot errors quickly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lang="en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Improve productivity</a:t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Think of it as a smart notebook designed for coding</a:t>
            </a:r>
            <a:endParaRPr b="1" i="1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0" name="Google Shape;700;p83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83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83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a Code Editor?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3" name="Google Shape;70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2250" y="1433600"/>
            <a:ext cx="2600926" cy="1829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4"/>
          <p:cNvSpPr txBox="1"/>
          <p:nvPr/>
        </p:nvSpPr>
        <p:spPr>
          <a:xfrm>
            <a:off x="364575" y="1099800"/>
            <a:ext cx="67323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Visual Studio Code (VS Code) is popular because it: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Is free and lightweight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Supports many programming languages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Offers helpful extensions (plugins)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Provides built-in debugging tools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Char char="●"/>
            </a:pPr>
            <a:r>
              <a:rPr lang="en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Has a clean and simple interface</a:t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>
                <a:solidFill>
                  <a:srgbClr val="77B2FF"/>
                </a:solidFill>
                <a:latin typeface="Work Sans"/>
                <a:ea typeface="Work Sans"/>
                <a:cs typeface="Work Sans"/>
                <a:sym typeface="Work Sans"/>
              </a:rPr>
              <a:t>👉 It balances simplicity and powerful features, making it beginner-friendly and professional-ready</a:t>
            </a:r>
            <a:endParaRPr b="1" i="1">
              <a:solidFill>
                <a:srgbClr val="77B2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09" name="Google Shape;709;p84"/>
          <p:cNvSpPr/>
          <p:nvPr/>
        </p:nvSpPr>
        <p:spPr>
          <a:xfrm>
            <a:off x="534896" y="292325"/>
            <a:ext cx="66777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84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84"/>
          <p:cNvSpPr txBox="1"/>
          <p:nvPr/>
        </p:nvSpPr>
        <p:spPr>
          <a:xfrm>
            <a:off x="492375" y="192225"/>
            <a:ext cx="663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Why VS Code is Commonly Used ? 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2" name="Google Shape;71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925" y="1362675"/>
            <a:ext cx="2238600" cy="22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5"/>
          <p:cNvSpPr txBox="1"/>
          <p:nvPr/>
        </p:nvSpPr>
        <p:spPr>
          <a:xfrm>
            <a:off x="399000" y="1024850"/>
            <a:ext cx="52149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 this lecture, we have covered: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Internet as global network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IP vs domain names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Role of DNS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Understand request–response model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HTTP vs HTTPS basics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Browser request and display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Frontend vs backend roles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Cloud as rented computing</a:t>
            </a:r>
            <a:endParaRPr sz="18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 Medium"/>
              <a:buChar char="●"/>
            </a:pPr>
            <a:r>
              <a:rPr lang="en" sz="1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Purpose of code editors</a:t>
            </a:r>
            <a:endParaRPr sz="17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718" name="Google Shape;718;p85"/>
          <p:cNvSpPr/>
          <p:nvPr/>
        </p:nvSpPr>
        <p:spPr>
          <a:xfrm>
            <a:off x="534900" y="284825"/>
            <a:ext cx="67653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85"/>
          <p:cNvSpPr/>
          <p:nvPr/>
        </p:nvSpPr>
        <p:spPr>
          <a:xfrm>
            <a:off x="364575" y="179325"/>
            <a:ext cx="67653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85"/>
          <p:cNvSpPr txBox="1"/>
          <p:nvPr/>
        </p:nvSpPr>
        <p:spPr>
          <a:xfrm>
            <a:off x="492375" y="192225"/>
            <a:ext cx="6637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Summary</a:t>
            </a:r>
            <a:endParaRPr b="1" i="0" sz="25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1" name="Google Shape;72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800" y="1522901"/>
            <a:ext cx="2619525" cy="237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86"/>
          <p:cNvSpPr/>
          <p:nvPr/>
        </p:nvSpPr>
        <p:spPr>
          <a:xfrm>
            <a:off x="2794050" y="3793292"/>
            <a:ext cx="4168500" cy="1094400"/>
          </a:xfrm>
          <a:prstGeom prst="rect">
            <a:avLst/>
          </a:prstGeom>
          <a:noFill/>
          <a:ln cap="flat" cmpd="sng" w="587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86"/>
          <p:cNvSpPr/>
          <p:nvPr/>
        </p:nvSpPr>
        <p:spPr>
          <a:xfrm>
            <a:off x="2491731" y="3595726"/>
            <a:ext cx="4291800" cy="10944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56475" lIns="56475" spcFirstLastPara="1" rIns="56475" wrap="square" tIns="5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86"/>
          <p:cNvSpPr txBox="1"/>
          <p:nvPr/>
        </p:nvSpPr>
        <p:spPr>
          <a:xfrm>
            <a:off x="2491725" y="3573681"/>
            <a:ext cx="42918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6475" lIns="56475" spcFirstLastPara="1" rIns="56475" wrap="square" tIns="564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1" lang="en" sz="3706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DOUBT RESOLUTION</a:t>
            </a:r>
            <a:endParaRPr b="1" sz="3706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729" name="Google Shape;72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548" y="522276"/>
            <a:ext cx="1836901" cy="28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4" name="Google Shape;734;p87"/>
          <p:cNvCxnSpPr/>
          <p:nvPr/>
        </p:nvCxnSpPr>
        <p:spPr>
          <a:xfrm>
            <a:off x="633125" y="1470125"/>
            <a:ext cx="0" cy="1399200"/>
          </a:xfrm>
          <a:prstGeom prst="straightConnector1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87"/>
          <p:cNvSpPr txBox="1"/>
          <p:nvPr/>
        </p:nvSpPr>
        <p:spPr>
          <a:xfrm>
            <a:off x="364575" y="1280950"/>
            <a:ext cx="7527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Complete the post-class assessment</a:t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Complete assignments (if any)</a:t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Practice the concepts and techniques taught in this session</a:t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Review your lecture notes</a:t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Note down questions and queries regarding this session and consult the teaching assistants.</a:t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36" name="Google Shape;736;p87"/>
          <p:cNvSpPr/>
          <p:nvPr/>
        </p:nvSpPr>
        <p:spPr>
          <a:xfrm>
            <a:off x="421450" y="292325"/>
            <a:ext cx="2317800" cy="6108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87"/>
          <p:cNvSpPr/>
          <p:nvPr/>
        </p:nvSpPr>
        <p:spPr>
          <a:xfrm>
            <a:off x="364575" y="179325"/>
            <a:ext cx="2259000" cy="6108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87"/>
          <p:cNvSpPr txBox="1"/>
          <p:nvPr/>
        </p:nvSpPr>
        <p:spPr>
          <a:xfrm>
            <a:off x="480964" y="143625"/>
            <a:ext cx="217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Important</a:t>
            </a:r>
            <a:endParaRPr b="1" i="0" sz="2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8"/>
          <p:cNvSpPr/>
          <p:nvPr/>
        </p:nvSpPr>
        <p:spPr>
          <a:xfrm>
            <a:off x="1576505" y="2464025"/>
            <a:ext cx="6103200" cy="1380900"/>
          </a:xfrm>
          <a:prstGeom prst="rect">
            <a:avLst/>
          </a:prstGeom>
          <a:noFill/>
          <a:ln cap="flat" cmpd="sng" w="9525">
            <a:solidFill>
              <a:srgbClr val="00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88"/>
          <p:cNvSpPr/>
          <p:nvPr/>
        </p:nvSpPr>
        <p:spPr>
          <a:xfrm>
            <a:off x="1422850" y="2213600"/>
            <a:ext cx="6103200" cy="14499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88"/>
          <p:cNvSpPr txBox="1"/>
          <p:nvPr/>
        </p:nvSpPr>
        <p:spPr>
          <a:xfrm>
            <a:off x="2019850" y="2430650"/>
            <a:ext cx="490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THANK YOU</a:t>
            </a:r>
            <a:endParaRPr b="1" i="0" sz="6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